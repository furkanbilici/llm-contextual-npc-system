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e987397a9a04a18" Type="http://schemas.openxmlformats.org/package/2006/relationships/metadata/core-properties" Target="docProps/core.xml"/><Relationship Id="Rb89790d2e7564c60" Type="http://schemas.openxmlformats.org/officeDocument/2006/relationships/officeDocument" Target="ppt/presentation.xml"/><Relationship Id="Rc8c26a316bfc4d19"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8b018b652d864355"/>
  </p:sldMasterIdLst>
  <p:notesMasterIdLst>
    <p:notesMasterId xmlns:r="http://schemas.openxmlformats.org/officeDocument/2006/relationships" r:id="R35999afc7de2410a"/>
  </p:notesMasterIdLst>
  <p:sldIdLst>
    <p:sldId xmlns:r="http://schemas.openxmlformats.org/officeDocument/2006/relationships" id="256" r:id="Rb9f71461b74a410f"/>
    <p:sldId xmlns:r="http://schemas.openxmlformats.org/officeDocument/2006/relationships" id="257" r:id="Rf55a9a8c161d4039"/>
    <p:sldId xmlns:r="http://schemas.openxmlformats.org/officeDocument/2006/relationships" id="258" r:id="Rc01219cc832b41f0"/>
    <p:sldId xmlns:ns0="http://schemas.openxmlformats.org/officeDocument/2006/relationships" id="270" ns0:id="rId20"/>
    <p:sldId xmlns:ns0="http://schemas.openxmlformats.org/officeDocument/2006/relationships" id="271" ns0:id="rId21"/>
    <p:sldId xmlns:r="http://schemas.openxmlformats.org/officeDocument/2006/relationships" id="259" r:id="R5c034091589a477e"/>
    <p:sldId xmlns:r="http://schemas.openxmlformats.org/officeDocument/2006/relationships" id="260" r:id="R39ad12486a55497a"/>
    <p:sldId xmlns:r="http://schemas.openxmlformats.org/officeDocument/2006/relationships" id="261" r:id="R505f695902804f2f"/>
    <p:sldId xmlns:r="http://schemas.openxmlformats.org/officeDocument/2006/relationships" id="262" r:id="R13ff55eba3414d5e"/>
    <p:sldId xmlns:r="http://schemas.openxmlformats.org/officeDocument/2006/relationships" id="263" r:id="Rc531141039214feb"/>
    <p:sldId xmlns:r="http://schemas.openxmlformats.org/officeDocument/2006/relationships" id="264" r:id="Ra4e4374d6f8c445d"/>
    <p:sldId xmlns:r="http://schemas.openxmlformats.org/officeDocument/2006/relationships" id="265" r:id="R884a5e21ebba4dc6"/>
    <p:sldId xmlns:ns0="http://schemas.openxmlformats.org/officeDocument/2006/relationships" id="272" ns0:id="rId22"/>
    <p:sldId xmlns:ns0="http://schemas.openxmlformats.org/officeDocument/2006/relationships" id="273" ns0:id="rId23"/>
    <p:sldId xmlns:r="http://schemas.openxmlformats.org/officeDocument/2006/relationships" id="266" r:id="R7a8d95600cd3491f"/>
    <p:sldId xmlns:ns0="http://schemas.openxmlformats.org/officeDocument/2006/relationships" id="274" ns0:id="rId24"/>
    <p:sldId xmlns:ns0="http://schemas.openxmlformats.org/officeDocument/2006/relationships" id="275" ns0:id="rId25"/>
    <p:sldId xmlns:r="http://schemas.openxmlformats.org/officeDocument/2006/relationships" id="267" r:id="R176dc2112564443f"/>
    <p:sldId xmlns:r="http://schemas.openxmlformats.org/officeDocument/2006/relationships" id="268" r:id="R3d0e5018a16b4959"/>
    <p:sldId xmlns:r="http://schemas.openxmlformats.org/officeDocument/2006/relationships" id="269" r:id="R6acd7a6322184b03"/>
    <p:sldId xmlns:ns0="http://schemas.openxmlformats.org/officeDocument/2006/relationships" id="276" ns0:id="rId26"/>
    <p:sldId xmlns:ns0="http://schemas.openxmlformats.org/officeDocument/2006/relationships" id="277" ns0:id="rId27"/>
    <p:sldId xmlns:ns0="http://schemas.openxmlformats.org/officeDocument/2006/relationships" id="278" ns0:id="rId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3ff55eba3414d5e" Type="http://schemas.openxmlformats.org/officeDocument/2006/relationships/slide" Target="slides/slide7.xml"/><Relationship Id="R176dc2112564443f" Type="http://schemas.openxmlformats.org/officeDocument/2006/relationships/slide" Target="slides/slide12.xml"/><Relationship Id="R35999afc7de2410a" Type="http://schemas.openxmlformats.org/officeDocument/2006/relationships/notesMaster" Target="notesMasters/notesMaster1.xml"/><Relationship Id="R39ad12486a55497a" Type="http://schemas.openxmlformats.org/officeDocument/2006/relationships/slide" Target="slides/slide5.xml"/><Relationship Id="R3d0e5018a16b4959" Type="http://schemas.openxmlformats.org/officeDocument/2006/relationships/slide" Target="slides/slide13.xml"/><Relationship Id="R505f695902804f2f" Type="http://schemas.openxmlformats.org/officeDocument/2006/relationships/slide" Target="slides/slide6.xml"/><Relationship Id="R5c034091589a477e" Type="http://schemas.openxmlformats.org/officeDocument/2006/relationships/slide" Target="slides/slide4.xml"/><Relationship Id="R6acd7a6322184b03" Type="http://schemas.openxmlformats.org/officeDocument/2006/relationships/slide" Target="slides/slide14.xml"/><Relationship Id="R7a8d95600cd3491f" Type="http://schemas.openxmlformats.org/officeDocument/2006/relationships/slide" Target="slides/slide11.xml"/><Relationship Id="R884a5e21ebba4dc6" Type="http://schemas.openxmlformats.org/officeDocument/2006/relationships/slide" Target="slides/slide10.xml"/><Relationship Id="R8b018b652d864355" Type="http://schemas.openxmlformats.org/officeDocument/2006/relationships/slideMaster" Target="slideMasters/slideMaster1.xml"/><Relationship Id="Ra4e4374d6f8c445d" Type="http://schemas.openxmlformats.org/officeDocument/2006/relationships/slide" Target="slides/slide9.xml"/><Relationship Id="Rb9f71461b74a410f" Type="http://schemas.openxmlformats.org/officeDocument/2006/relationships/slide" Target="slides/slide1.xml"/><Relationship Id="Rc01219cc832b41f0" Type="http://schemas.openxmlformats.org/officeDocument/2006/relationships/slide" Target="slides/slide3.xml"/><Relationship Id="Rc531141039214feb" Type="http://schemas.openxmlformats.org/officeDocument/2006/relationships/slide" Target="slides/slide8.xml"/><Relationship Id="Rc95e7cf9ce834320" Type="http://schemas.openxmlformats.org/officeDocument/2006/relationships/presProps" Target="presProps.xml"/><Relationship Id="Rdc86581c40af4728" Type="http://schemas.openxmlformats.org/officeDocument/2006/relationships/theme" Target="theme/theme1.xml"/><Relationship Id="Re37cd616832a43e3" Type="http://schemas.openxmlformats.org/officeDocument/2006/relationships/tableStyles" Target="tableStyles.xml"/><Relationship Id="Rf55a9a8c161d4039" Type="http://schemas.openxmlformats.org/officeDocument/2006/relationships/slide" Target="slides/slide2.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a611e0e9aadb446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b62882eac3384bfd" Type="http://schemas.openxmlformats.org/officeDocument/2006/relationships/slide" Target="../slides/slide1.xml"/><Relationship Id="Re91919e049ba489b"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6e9c405517c474a" Type="http://schemas.openxmlformats.org/officeDocument/2006/relationships/slide" Target="../slides/slide2.xml"/><Relationship Id="R9f3b25852816472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7df5a71c13e466d" Type="http://schemas.openxmlformats.org/officeDocument/2006/relationships/slide" Target="../slides/slide3.xml"/><Relationship Id="Ra868893fdcac4fb9"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6688d2451bce47a0" Type="http://schemas.openxmlformats.org/officeDocument/2006/relationships/notesMaster" Target="../notesMasters/notesMaster1.xml"/><Relationship Id="R915bfd7a9ea9470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7aa9ac99c614c76" Type="http://schemas.openxmlformats.org/officeDocument/2006/relationships/notesMaster" Target="../notesMasters/notesMaster1.xml"/><Relationship Id="R70f15ed7f52d4ee9"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f3a1d1bf929497e" Type="http://schemas.openxmlformats.org/officeDocument/2006/relationships/slide" Target="../slides/slide6.xml"/><Relationship Id="Rceee212294ae4e0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e2c3708bd3414c7f" Type="http://schemas.openxmlformats.org/officeDocument/2006/relationships/notesMaster" Target="../notesMasters/notesMaster1.xml"/><Relationship Id="Reaa5833813874c36"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37ca6c424d3e408c" Type="http://schemas.openxmlformats.org/officeDocument/2006/relationships/notesMaster" Target="../notesMasters/notesMaster1.xml"/><Relationship Id="Rd210d0a5581e4a16"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aadaba703f404a62" Type="http://schemas.openxmlformats.org/officeDocument/2006/relationships/notesMaster" Target="../notesMasters/notesMaster1.xml"/><Relationship Id="Rbd3bf9d8e27847c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d81625d544c473e" Type="http://schemas.openxmlformats.org/officeDocument/2006/relationships/notesMaster" Target="../notesMasters/notesMaster1.xml"/><Relationship Id="R6d605e9f854a472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afc93bd75e54410" Type="http://schemas.openxmlformats.org/officeDocument/2006/relationships/notesMaster" Target="../notesMasters/notesMaster1.xml"/><Relationship Id="R21676a28bf824f6a"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b1e714795c504487" Type="http://schemas.openxmlformats.org/officeDocument/2006/relationships/slide" Target="../slides/slide12.xml"/><Relationship Id="Rbd075df444fe427c"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91fd2032c9194821" Type="http://schemas.openxmlformats.org/officeDocument/2006/relationships/notesMaster" Target="../notesMasters/notesMaster1.xml"/><Relationship Id="Rfb529bef29c34d2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8728e62312594012" Type="http://schemas.openxmlformats.org/officeDocument/2006/relationships/slide" Target="../slides/slide14.xml"/><Relationship Id="R92cac0b1d390492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sunum, kullanıcının sağladığı proje önerisini temel alır. Prototip ve ölçümler gelecekte gerçekleştirilecek çalışmalardır. Kapak görseli yerleşik image_gen aracıyla üretilmiş temsili konsept sanattır, çalışan prototipin ekran görüntüsü değildir. Görsel istemi: sağ tarafta bir köy şifacısı NPC ve gezgin, solda başlık için koyu lacivert boş alan, turkuaz ışık, stilize 3B oyun estetiği, metin ve logo olmadan.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Araştırma sorusu ve ilk prototip sınırları, proje açıklamasından hareketle önerilmiştir.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Bu slayttaki görev, karakter ve replik sunumu somutlaştırmak için hazırlanmış örnektir. Gerçek sistem çıktısı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Önerilen mimaride bir sunucu aracısı API anahtarını istemciden uzak tutar. Bu ek, proje için tasarım önerisidir. LLM çıktısı öneri niteliğindedir. Son karar oyun kurallarındadır.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Literatür bağlantısı: hafıza akışı ve yansıtma Park vd. (2023); bağlam penceresini aşan katmanlı hafıza Packer vd.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JSON örneği temsili bir yanıt sözleşmesidir. İzinli eylemler ve kimlikler sistem tarafından tanımlanır. Sözdizimi doğrulaması tek başına yeterli değildir. Ödül ve envanter işlemleri oyun durumuna göre ayrıca doğrulanır. Literatür bağlantısı: gramerle sınırlı üretim Willard ve Louf (2023). LLM for Unity gibi paketler de gramer kısıtı sunar; bu projede ek olarak oyun kuralı ve ön koşul doğrulaması yapılır.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Literatür bağlantısı: halüsinasyon türleri ve azaltma yöntemleri Ji vd.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Literatür bağlantısı: önbellek ve kademeli model ile maliyet azaltma Chen vd. (2024). Maslych vd. (2025) 4 s üzeri gecikmenin deneyimi düşürdüğünü ve düşünme animasyonu gibi doğal dolgu davranışlarının algılanan süreyi iyileştirdiğini raporlar.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proje açıklaması. Araçlar planlanan üretim hattıdır. Optimizasyonların etkisi kullanılan render yolu, shader, malzeme ve sahneye bağlı olarak değerlendirilir. Otomatik performans artışı veya platform başarımı vaat edilmez.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Önerilen deney: aynı olay dizilerini sabit diyalog, yalnız LLM ve doğrulama/önbellek içeren sistemde karşılaştırmak. Tekrarlı çalıştırmalarla medyan ve p95 raporlanır. Model, prompt sürümü, cihaz ve bağlantı koşulları kayıt altına alınır. Henüz ölçülmüş sonuç yoktur.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Takvim, sunum için önerilen bir plan varsayımıdır. TÜBİTAK çağrı takvimi veya resmi süre şartı değildir. Proje ekibi ve akademik takvime göre uyarlanmalıdır.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proje açıklaması ve literatür slaytları. Ticari potansiyel hedef düzeyindedir. Pazar doğrulaması veya ilk olma iddiası yoktur. Katkı, slayt 05’teki karşılaştırmada belirtilen açık noktaya, yani üretilen içeriğin oyun durumuna doğrulanarak bağlanması ve bunun gecikme ve maliyetle birlikte ölçülmesine yöneliktir.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Kullanıcının sağladığı proje açıklaması. Sunum, planlanan bir proje önerisini anlatır.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Kaynakça slaytlarındaki çalışmalar ve kullanıcının proje açıklaması. Dört hat, mimarideki katmanlarla eşleştirilmiştir. Park vd. (2023) ajanları Phaser tabanlı bir sandbox dünyasında çalıştırır ve inandırıcılığı 100 katılımcıyla değerlendirir; oyun kuralı doğrulaması yapmaz, iki günlük çalıştırmanın binlerce dolarlık token maliyeti olduğunu belirtir. Värtinen vd. (2024) GPT-2 ile görev metni üretir ve 349 oyuncuya puanlatır; motor içi yürütme yoktur. Ashby vd. (2023) bilgi grafı ile görevleri oyun bağlamına dayandırır ve diyaloğu dil modeliyle üretir. Maslych vd. (2025) Unity içinde 54 katılımcıyla 4 s üzeri gecikmenin deneyimi düşürdüğünü, doğal dolgu davranışlarının algılanan süreyi iyileştirdiğini raporlar. McGrath vd. (2025) Unreal Engine 5 prototipinde GPT-4o mini için ortalama 1,9 s sunucu gecikmesi ölçer. Bu bir ön taramadır; tezde veri tabanları, anahtar kelimeler ve dahil etme ölçütleri ayrıca raporlanmalıdır.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Kaynakça slaytlarındaki çalışmalar ve kullanıcının proje açıklaması. Akademik sütun: Park vd. (2023), Värtinen vd. (2024), Kumaran vd. (2023), Maslych vd. (2025). Ürün bilgileri resmi sayfalardan 2 Ekim 2026 tarihinde alınmıştır ve sürümle değişebilir: Convai (convai.com) kayıtlı eylemler için bir Actions sistemi sunar; LLM for Unity (github.com/undreamai/LLMUnity) llama.cpp tabanlı yerel çıkarım, gramer kısıtlı çıktı ve fonksiyon çağrısı içerir; NVIDIA ACE (developer.nvidia.com/ace) cihaz üzerinde veya bulutta konuşma, ses ve yüz animasyonu bileşenleri sunar; Inworld AI (inworld.ai) gerçek zamanlı ses ve LLM altyapısına yönelmiştir. Dolayısıyla eylem eşleme ve JSON kısıtı tek başına yeni değildir. Projenin yöneldiği nokta, oyun durumuna dayalı ön koşul doğrulaması ile geçersiz eylem oranı, p95 gecikme, token maliyeti ve kare süresinin aynı deneyde raporlanmasıdır. Taranan akademik çalışmalardan yalnız Maslych vd. ve McGrath vd. gecikme ölçer; hiçbiri geçersiz eylem oranı raporlamaz.</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Kullanıcının sağladığı proje açıklaması ve kaynakça slaytındaki çalışmalar. Bileşen adları önceki mimari slaytlarındaki katmanların Unity karşılığı olarak önerilmiştir. Henüz çalışan prototip yoktur; tüm bileşenler planlama aşamasındadır. Prototip ilerledikçe Durum sütunu 'Devam ediyor' veya 'Tamamlandı' olarak güncellenmeli, çalışan sahneden alınan ekran görüntüsü eklenmelidir. Kapak görseli prototip görüntüsü değildir.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Kullanıcının sağladığı proje açıklaması ve kaynakça slaytındaki çalışmalar. Senaryolar, köy şifacısı örneği ile tutarlılık ve hata toleransı slaytlarından türetilmiş kabul testleridir. S4 ve S5 hata enjeksiyonu ile (bozuk JSON, izinsiz eylem, yapay zaman aşımı) tetiklenecektir. Henüz koşturulmuş test yoktur.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Kullanıcının sağladığı proje açıklaması ve kaynakça slaytındaki çalışmalar. Hipotezler değerlendirme planındaki dört boyuttan (gecikme, güvenilirlik, maliyet, anlatı ve oyun) türetilmiştir. Eşik değerler hedeftir, ölçülmüş sonuç değildir. H2 ve H3 için anlamlı fark eşiği pilot ölçümden sonra belirlenecektir. H2'deki 4 s referansı Maslych vd. (2025) çalışmasından gelir: Unity içinde 54 katılımcıyla 1,5 / 4,0 / 6,5 s gecikmeler denenmiş, 4 s üzerinin deneyim kalitesini düşürdüğü raporlanmıştır (sanal ajan bağlamı). 60 FPS hedefi PC prototipi için önerilmiştir; mobil hedef ayrıca belirlenecektir.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Kullanıcının sağladığı proje açıklaması ve kaynakça slaytındaki çalışmalar. Bu tablo bulguların raporlanacağı biçimi gösterir; tüm hücreler boştur ve hiçbir değer tahmin edilmemiştir. Her koşul için model, prompt sürümü, cihaz ve bağlantı koşulları kayda alınacak; değerler tekrarlı koşuların medyan ve p95 değerleri olacaktır. Tutarlılık puanı, önceden tanımlanmış bir değerlendirme ölçeğiyle (1–5) puanlanacaktır.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 Kullanıcının sağladığı proje açıklaması ve kaynakça slaytındaki çalışmalar. Bu slayt sunumun kapanış özetidir. Sonuçlar henüz deneysel değildir; prototip ve ölçümler tamamlandığında bu slayt elde edilen bulgularla güncellenmelidir. İlk olma iddiası yoktur; katkı, literatür karşılaştırmasında belirtilen açık noktaya yöneliktir.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Kaynakça APA 7 biçimindedir (Türkçe uyarlama: ve, ss., vd.). Künyeler Crossref, yayımcı, OpenReview ve arXiv kayıtlarından doğrulanmıştır. Gallotta vd. (2024) için kesin cilt, sayı ve sayfa IEEE Xplore üzerinden kontrol edilmelidir; Park vd. (2023) ve Ashby vd. (2023) için ACM makale numarası doğrulanamadığından eklenmemiştir. Bölümün yazım kılavuzu farklı bir stil istiyorsa liste ona göre dönüştürülmelidir.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Kaynakça APA 7 biçimindedir (Türkçe uyarlama: ve, ss., vd.). Künyeler Crossref, yayımcı, OpenReview ve arXiv kayıtlarından doğrulanmıştır. Gallotta vd. (2024) için kesin cilt, sayı ve sayfa IEEE Xplore üzerinden kontrol edilmelidir; Park vd. (2023) ve Ashby vd. (2023) için ACM makale numarası doğrulanamadığından eklenmemiştir. Bölümün yazım kılavuzu farklı bir stil istiyorsa liste ona göre dönüştürülmelidir.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c7f2be3565d4838"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f8fbc3abac74fb7" Type="http://schemas.openxmlformats.org/officeDocument/2006/relationships/theme" Target="theme/theme2.xml"/><Relationship Id="Rf15364a24fc241b0"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5364a24fc241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f848ab7e8c94060" Type="http://schemas.openxmlformats.org/officeDocument/2006/relationships/notesSlide" Target="../notesSlides/notesSlide1.xml"/><Relationship Id="R7ed6995b932d43f2" Type="http://schemas.openxmlformats.org/officeDocument/2006/relationships/image" Target="../media/image.png"/><Relationship Id="Rff04f5b2c5d245a3"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8e847a0750804467" Type="http://schemas.openxmlformats.org/officeDocument/2006/relationships/notesSlide" Target="../notesSlides/notesSlide2.xml"/><Relationship Id="Rc00634fa05f347bd"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369c85af864d4a26" Type="http://schemas.openxmlformats.org/officeDocument/2006/relationships/slideLayout" Target="../slideLayouts/slideLayout1.xml"/><Relationship Id="Rc0c9ab33fd63429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0f3bcc513c64dff" Type="http://schemas.openxmlformats.org/officeDocument/2006/relationships/notesSlide" Target="../notesSlides/notesSlide4.xml"/><Relationship Id="R859842cf33ac4120"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5d6cb8d061d6423c" Type="http://schemas.openxmlformats.org/officeDocument/2006/relationships/slideLayout" Target="../slideLayouts/slideLayout1.xml"/><Relationship Id="R94caf9507bae42c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2d6d2020d5248a7" Type="http://schemas.openxmlformats.org/officeDocument/2006/relationships/slideLayout" Target="../slideLayouts/slideLayout1.xml"/><Relationship Id="Re3f18668a73948c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2f44971779844baa" Type="http://schemas.openxmlformats.org/officeDocument/2006/relationships/notesSlide" Target="../notesSlides/notesSlide7.xml"/><Relationship Id="Rf011226bbfd3471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ba0caa7d1ad94340" Type="http://schemas.openxmlformats.org/officeDocument/2006/relationships/notesSlide" Target="../notesSlides/notesSlide8.xml"/><Relationship Id="Rc1de1d1510e144cc"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1c96f023918e4f5b" Type="http://schemas.openxmlformats.org/officeDocument/2006/relationships/notesSlide" Target="../notesSlides/notesSlide9.xml"/><Relationship Id="Ra390b64a29ee4d9e"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d962440ef1e485f" Type="http://schemas.openxmlformats.org/officeDocument/2006/relationships/notesSlide" Target="../notesSlides/notesSlide10.xml"/><Relationship Id="R5ae8d9adf3aa45e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9830a1be484c4c4b" Type="http://schemas.openxmlformats.org/officeDocument/2006/relationships/notesSlide" Target="../notesSlides/notesSlide11.xml"/><Relationship Id="Re44df20fab09417b"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01eb6f18a28b493f" Type="http://schemas.openxmlformats.org/officeDocument/2006/relationships/notesSlide" Target="../notesSlides/notesSlide12.xml"/><Relationship Id="R6c385ed07f1d497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1c0d063ff1114150" Type="http://schemas.openxmlformats.org/officeDocument/2006/relationships/slideLayout" Target="../slideLayouts/slideLayout1.xml"/><Relationship Id="Rf4ed251df6594e8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17db082c110e4157" Type="http://schemas.openxmlformats.org/officeDocument/2006/relationships/slideLayout" Target="../slideLayouts/slideLayout1.xml"/><Relationship Id="R27c0f8cf9c454de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p="http://schemas.openxmlformats.org/presentationml/2006/main">
  <p:cSld>
    <p:bg>
      <p:bgPr>
        <a:solidFill xmlns:a="http://schemas.openxmlformats.org/drawingml/2006/main">
          <a:srgbClr val="101F2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ed6995b932d43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28FFE1-C8A1-45E5-8F78-CF668AE99A72}"/>
              </a:ext>
            </a:extLst>
          </p:cNvPr>
          <p:cNvSpPr>
            <a:spLocks xmlns:a="http://schemas.openxmlformats.org/drawingml/2006/main" noGrp="1"/>
          </p:cNvSpPr>
          <p:nvPr/>
        </p:nvSpPr>
        <p:spPr>
          <a:xfrm xmlns:a="http://schemas.openxmlformats.org/drawingml/2006/main">
            <a:off x="609600" y="1276350"/>
            <a:ext cx="704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ptos"/>
                <a:ea typeface="Aptos"/>
                <a:cs typeface="Aptos"/>
              </a:defRPr>
            </a:pPr>
            <a:r>
              <a:rPr sz="4650" b="1">
                <a:solidFill>
                  <a:srgbClr val="FFFFFF"/>
                </a:solidFill>
                <a:latin typeface="Aptos"/>
                <a:ea typeface="Aptos"/>
                <a:cs typeface="Aptos"/>
              </a:rPr>
              <a:t>API Tabanlı</a:t>
            </a:r>
          </a:p>
          <a:p xmlns:a="http://schemas.openxmlformats.org/drawingml/2006/main">
            <a:pPr>
              <a:defRPr sz="4650" b="1">
                <a:solidFill>
                  <a:srgbClr val="FFFFFF"/>
                </a:solidFill>
                <a:latin typeface="Aptos"/>
                <a:ea typeface="Aptos"/>
                <a:cs typeface="Aptos"/>
              </a:defRPr>
            </a:pPr>
            <a:r>
              <a:rPr sz="4650" b="1">
                <a:solidFill>
                  <a:srgbClr val="FFFFFF"/>
                </a:solidFill>
                <a:latin typeface="Aptos"/>
                <a:ea typeface="Aptos"/>
                <a:cs typeface="Aptos"/>
              </a:rPr>
              <a:t>Dinamik NPC</a:t>
            </a:r>
          </a:p>
          <a:p xmlns:a="http://schemas.openxmlformats.org/drawingml/2006/main">
            <a:pPr>
              <a:defRPr sz="4650" b="1">
                <a:solidFill>
                  <a:srgbClr val="FFFFFF"/>
                </a:solidFill>
                <a:latin typeface="Aptos"/>
                <a:ea typeface="Aptos"/>
                <a:cs typeface="Aptos"/>
              </a:defRPr>
            </a:pPr>
            <a:r>
              <a:rPr sz="4650" b="1">
                <a:solidFill>
                  <a:srgbClr val="FFFFFF"/>
                </a:solidFill>
                <a:latin typeface="Aptos"/>
                <a:ea typeface="Aptos"/>
                <a:cs typeface="Aptos"/>
              </a:rPr>
              <a:t>ve Hikaye Motoru</a:t>
            </a:r>
          </a:p>
        </p:txBody>
      </p:sp>
      <p:sp>
        <p:nvSpPr>
          <p:cNvPr id="3" name="">
            <a:extLst xmlns:a="http://schemas.openxmlformats.org/drawingml/2006/main">
              <a:ext uri="{FF2B5EF4-FFF2-40B4-BE49-F238E27FC236}">
                <a16:creationId xmlns:a16="http://schemas.microsoft.com/office/drawing/2014/main" id="{9573E594-8AE8-46A8-9917-70AE21819D3A}"/>
              </a:ext>
            </a:extLst>
          </p:cNvPr>
          <p:cNvSpPr>
            <a:spLocks xmlns:a="http://schemas.openxmlformats.org/drawingml/2006/main" noGrp="1"/>
          </p:cNvSpPr>
          <p:nvPr/>
        </p:nvSpPr>
        <p:spPr>
          <a:xfrm xmlns:a="http://schemas.openxmlformats.org/drawingml/2006/main">
            <a:off x="647700" y="4476750"/>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BE0C8"/>
                </a:solidFill>
                <a:latin typeface="Aptos"/>
                <a:ea typeface="Aptos"/>
                <a:cs typeface="Aptos"/>
              </a:defRPr>
            </a:pPr>
            <a:r>
              <a:rPr sz="2250" b="0">
                <a:solidFill>
                  <a:srgbClr val="7BE0C8"/>
                </a:solidFill>
                <a:latin typeface="Aptos"/>
                <a:ea typeface="Aptos"/>
                <a:cs typeface="Aptos"/>
              </a:rPr>
              <a:t>Unity içinde bağlama duyarlı</a:t>
            </a:r>
          </a:p>
          <a:p xmlns:a="http://schemas.openxmlformats.org/drawingml/2006/main">
            <a:pPr>
              <a:defRPr sz="2250" b="0">
                <a:solidFill>
                  <a:srgbClr val="7BE0C8"/>
                </a:solidFill>
                <a:latin typeface="Aptos"/>
                <a:ea typeface="Aptos"/>
                <a:cs typeface="Aptos"/>
              </a:defRPr>
            </a:pPr>
            <a:r>
              <a:rPr sz="2250" b="0">
                <a:solidFill>
                  <a:srgbClr val="7BE0C8"/>
                </a:solidFill>
                <a:latin typeface="Aptos"/>
                <a:ea typeface="Aptos"/>
                <a:cs typeface="Aptos"/>
              </a:rPr>
              <a:t>diyalog ve görev üretimi</a:t>
            </a:r>
          </a:p>
        </p:txBody>
      </p:sp>
      <p:sp>
        <p:nvSpPr>
          <p:cNvPr id="4" name="">
            <a:extLst xmlns:a="http://schemas.openxmlformats.org/drawingml/2006/main">
              <a:ext uri="{FF2B5EF4-FFF2-40B4-BE49-F238E27FC236}">
                <a16:creationId xmlns:a16="http://schemas.microsoft.com/office/drawing/2014/main" id="{9BB8A045-087C-40DF-B81F-E2468030E7F0}"/>
              </a:ext>
            </a:extLst>
          </p:cNvPr>
          <p:cNvSpPr>
            <a:spLocks xmlns:a="http://schemas.openxmlformats.org/drawingml/2006/main" noGrp="1"/>
          </p:cNvSpPr>
          <p:nvPr/>
        </p:nvSpPr>
        <p:spPr>
          <a:xfrm xmlns:a="http://schemas.openxmlformats.org/drawingml/2006/main">
            <a:off x="647700" y="6105525"/>
            <a:ext cx="781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FE8EA"/>
                </a:solidFill>
                <a:latin typeface="Aptos"/>
                <a:ea typeface="Aptos"/>
                <a:cs typeface="Aptos"/>
              </a:defRPr>
            </a:pPr>
            <a:r>
              <a:rPr sz="1500" b="0">
                <a:solidFill>
                  <a:srgbClr val="DFE8EA"/>
                </a:solidFill>
                <a:latin typeface="Aptos"/>
                <a:ea typeface="Aptos"/>
                <a:cs typeface="Aptos"/>
              </a:rPr>
              <a:t>TÜBİTAK 2209-A kapsamında planlanan bitirme projesi</a:t>
            </a:r>
          </a:p>
        </p:txBody>
      </p:sp>
    </p:spTree>
    <p:extLst>
      <p:ext uri="{BB962C8B-B14F-4D97-AF65-F5344CB8AC3E}">
        <p14:creationId xmlns:p14="http://schemas.microsoft.com/office/powerpoint/2010/main" val="1154102982"/>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014B2E-AC20-4B45-92FD-F4D3BCE63118}"/>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Problem: sınırlı ve tekrar eden NPC tepkileri</a:t>
            </a:r>
          </a:p>
        </p:txBody>
      </p:sp>
      <p:sp>
        <p:nvSpPr>
          <p:cNvPr id="2" name="">
            <a:extLst xmlns:a="http://schemas.openxmlformats.org/drawingml/2006/main">
              <a:ext uri="{FF2B5EF4-FFF2-40B4-BE49-F238E27FC236}">
                <a16:creationId xmlns:a16="http://schemas.microsoft.com/office/drawing/2014/main" id="{266DEE5E-565B-41F6-9221-04D1EC4DCE8B}"/>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9FAF5FB9-30F2-4200-A24B-D86B12CEA91E}"/>
              </a:ext>
            </a:extLst>
          </p:cNvPr>
          <p:cNvSpPr>
            <a:spLocks xmlns:a="http://schemas.openxmlformats.org/drawingml/2006/main" noGrp="1"/>
          </p:cNvSpPr>
          <p:nvPr/>
        </p:nvSpPr>
        <p:spPr>
          <a:xfrm xmlns:a="http://schemas.openxmlformats.org/drawingml/2006/main">
            <a:off x="609600" y="1571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7D7A"/>
                </a:solidFill>
                <a:latin typeface="Aptos"/>
                <a:ea typeface="Aptos"/>
                <a:cs typeface="Aptos"/>
              </a:defRPr>
            </a:pPr>
            <a:r>
              <a:rPr sz="2175" b="0">
                <a:solidFill>
                  <a:srgbClr val="147D7A"/>
                </a:solidFill>
                <a:latin typeface="Aptos"/>
                <a:ea typeface="Aptos"/>
                <a:cs typeface="Aptos"/>
              </a:rPr>
              <a:t>Sabit diyalog ağaçları, oyuncunun beklenmedik tercihlerini kapsamakta zorlanır.</a:t>
            </a:r>
          </a:p>
        </p:txBody>
      </p:sp>
      <p:sp>
        <p:nvSpPr>
          <p:cNvPr id="4" name="">
            <a:extLst xmlns:a="http://schemas.openxmlformats.org/drawingml/2006/main">
              <a:ext uri="{FF2B5EF4-FFF2-40B4-BE49-F238E27FC236}">
                <a16:creationId xmlns:a16="http://schemas.microsoft.com/office/drawing/2014/main" id="{C1BCDF8F-0066-428D-A061-74D86E7D0BAF}"/>
              </a:ext>
            </a:extLst>
          </p:cNvPr>
          <p:cNvSpPr>
            <a:spLocks xmlns:a="http://schemas.openxmlformats.org/drawingml/2006/main" noGrp="1"/>
          </p:cNvSpPr>
          <p:nvPr/>
        </p:nvSpPr>
        <p:spPr>
          <a:xfrm xmlns:a="http://schemas.openxmlformats.org/drawingml/2006/main">
            <a:off x="609600" y="2667000"/>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D7A"/>
                </a:solidFill>
                <a:latin typeface="Aptos"/>
                <a:ea typeface="Aptos"/>
                <a:cs typeface="Aptos"/>
              </a:defRPr>
            </a:pPr>
            <a:r>
              <a:rPr sz="2325" b="1">
                <a:solidFill>
                  <a:srgbClr val="147D7A"/>
                </a:solidFill>
                <a:latin typeface="Aptos"/>
                <a:ea typeface="Aptos"/>
                <a:cs typeface="Aptos"/>
              </a:rPr>
              <a:t>Diyalog sınırı</a:t>
            </a:r>
          </a:p>
        </p:txBody>
      </p:sp>
      <p:sp>
        <p:nvSpPr>
          <p:cNvPr id="5" name="">
            <a:extLst xmlns:a="http://schemas.openxmlformats.org/drawingml/2006/main">
              <a:ext uri="{FF2B5EF4-FFF2-40B4-BE49-F238E27FC236}">
                <a16:creationId xmlns:a16="http://schemas.microsoft.com/office/drawing/2014/main" id="{FB48D052-B3A3-4B73-AAD0-DBB0B4EF155E}"/>
              </a:ext>
            </a:extLst>
          </p:cNvPr>
          <p:cNvSpPr>
            <a:spLocks xmlns:a="http://schemas.openxmlformats.org/drawingml/2006/main" noGrp="1"/>
          </p:cNvSpPr>
          <p:nvPr/>
        </p:nvSpPr>
        <p:spPr>
          <a:xfrm xmlns:a="http://schemas.openxmlformats.org/drawingml/2006/main">
            <a:off x="609600" y="3562350"/>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Oyuncu farklı bir çözüm önerdiğinde NPC aynı hazır yanıtı tekrar edebilir.</a:t>
            </a:r>
          </a:p>
        </p:txBody>
      </p:sp>
      <p:sp>
        <p:nvSpPr>
          <p:cNvPr id="6" name="">
            <a:extLst xmlns:a="http://schemas.openxmlformats.org/drawingml/2006/main">
              <a:ext uri="{FF2B5EF4-FFF2-40B4-BE49-F238E27FC236}">
                <a16:creationId xmlns:a16="http://schemas.microsoft.com/office/drawing/2014/main" id="{70F6B07C-A859-4436-9A06-2B03023EDE92}"/>
              </a:ext>
            </a:extLst>
          </p:cNvPr>
          <p:cNvSpPr>
            <a:spLocks xmlns:a="http://schemas.openxmlformats.org/drawingml/2006/main" noGrp="1"/>
          </p:cNvSpPr>
          <p:nvPr/>
        </p:nvSpPr>
        <p:spPr>
          <a:xfrm xmlns:a="http://schemas.openxmlformats.org/drawingml/2006/main">
            <a:off x="6324600" y="2667000"/>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D7A"/>
                </a:solidFill>
                <a:latin typeface="Aptos"/>
                <a:ea typeface="Aptos"/>
                <a:cs typeface="Aptos"/>
              </a:defRPr>
            </a:pPr>
            <a:r>
              <a:rPr sz="2325" b="1">
                <a:solidFill>
                  <a:srgbClr val="147D7A"/>
                </a:solidFill>
                <a:latin typeface="Aptos"/>
                <a:ea typeface="Aptos"/>
                <a:cs typeface="Aptos"/>
              </a:rPr>
              <a:t>Görev sınırı</a:t>
            </a:r>
          </a:p>
        </p:txBody>
      </p:sp>
      <p:sp>
        <p:nvSpPr>
          <p:cNvPr id="7" name="">
            <a:extLst xmlns:a="http://schemas.openxmlformats.org/drawingml/2006/main">
              <a:ext uri="{FF2B5EF4-FFF2-40B4-BE49-F238E27FC236}">
                <a16:creationId xmlns:a16="http://schemas.microsoft.com/office/drawing/2014/main" id="{0CCC8D80-9505-46B2-944B-B880F5CB946A}"/>
              </a:ext>
            </a:extLst>
          </p:cNvPr>
          <p:cNvSpPr>
            <a:spLocks xmlns:a="http://schemas.openxmlformats.org/drawingml/2006/main" noGrp="1"/>
          </p:cNvSpPr>
          <p:nvPr/>
        </p:nvSpPr>
        <p:spPr>
          <a:xfrm xmlns:a="http://schemas.openxmlformats.org/drawingml/2006/main">
            <a:off x="6324600" y="3562350"/>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Önceden yazılmış senaryolar, oyuncunun geçmişine göre sınırlı ölçüde değişir.</a:t>
            </a:r>
          </a:p>
        </p:txBody>
      </p:sp>
      <p:sp>
        <p:nvSpPr>
          <p:cNvPr id="8" name="">
            <a:extLst xmlns:a="http://schemas.openxmlformats.org/drawingml/2006/main">
              <a:ext uri="{FF2B5EF4-FFF2-40B4-BE49-F238E27FC236}">
                <a16:creationId xmlns:a16="http://schemas.microsoft.com/office/drawing/2014/main" id="{B873EB21-1A04-4BE3-A040-5333A4952F3E}"/>
              </a:ext>
            </a:extLst>
          </p:cNvPr>
          <p:cNvSpPr>
            <a:spLocks xmlns:a="http://schemas.openxmlformats.org/drawingml/2006/main" noGrp="1"/>
          </p:cNvSpPr>
          <p:nvPr/>
        </p:nvSpPr>
        <p:spPr>
          <a:xfrm xmlns:a="http://schemas.openxmlformats.org/drawingml/2006/main">
            <a:off x="609600" y="56483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Proje odağı: oyuncu bağlamını, tutarlı ve uygulanabilir oyun tepkilerine dönüştürmek.</a:t>
            </a:r>
          </a:p>
        </p:txBody>
      </p:sp>
    </p:spTree>
    <p:extLst>
      <p:ext uri="{BB962C8B-B14F-4D97-AF65-F5344CB8AC3E}">
        <p14:creationId xmlns:p14="http://schemas.microsoft.com/office/powerpoint/2010/main" val="1258299964"/>
      </p:ext>
    </p:extLst>
  </p:cSld>
</p:sld>
</file>

<file path=ppt/slides/slide3.xml><?xml version="1.0" encoding="utf-8"?>
<p:sld xmlns:p="http://schemas.openxmlformats.org/presentationml/2006/main">
  <p:cSld>
    <p:bg>
      <p:bgPr>
        <a:solidFill xmlns:a="http://schemas.openxmlformats.org/drawingml/2006/main">
          <a:srgbClr val="101F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150196-DA2B-48B2-B9EE-03A8DDF841DA}"/>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Amaç ve ilk prototipin kapsamı</a:t>
            </a:r>
          </a:p>
        </p:txBody>
      </p:sp>
      <p:sp>
        <p:nvSpPr>
          <p:cNvPr id="2" name="">
            <a:extLst xmlns:a="http://schemas.openxmlformats.org/drawingml/2006/main">
              <a:ext uri="{FF2B5EF4-FFF2-40B4-BE49-F238E27FC236}">
                <a16:creationId xmlns:a16="http://schemas.microsoft.com/office/drawing/2014/main" id="{241050E6-1D35-4206-AC8B-6BBE86AABF97}"/>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BC5"/>
                </a:solidFill>
                <a:latin typeface="Aptos"/>
                <a:ea typeface="Aptos"/>
                <a:cs typeface="Aptos"/>
              </a:defRPr>
            </a:pPr>
            <a:r>
              <a:rPr sz="1350" b="0">
                <a:solidFill>
                  <a:srgbClr val="A7BBC5"/>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741E1177-5435-4A0F-BEFF-992050EEB30C}"/>
              </a:ext>
            </a:extLst>
          </p:cNvPr>
          <p:cNvSpPr>
            <a:spLocks xmlns:a="http://schemas.openxmlformats.org/drawingml/2006/main" noGrp="1"/>
          </p:cNvSpPr>
          <p:nvPr/>
        </p:nvSpPr>
        <p:spPr>
          <a:xfrm xmlns:a="http://schemas.openxmlformats.org/drawingml/2006/main">
            <a:off x="609600" y="1571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BE0C8"/>
                </a:solidFill>
                <a:latin typeface="Aptos"/>
                <a:ea typeface="Aptos"/>
                <a:cs typeface="Aptos"/>
              </a:defRPr>
            </a:pPr>
            <a:r>
              <a:rPr sz="2175" b="0">
                <a:solidFill>
                  <a:srgbClr val="7BE0C8"/>
                </a:solidFill>
                <a:latin typeface="Aptos"/>
                <a:ea typeface="Aptos"/>
                <a:cs typeface="Aptos"/>
              </a:rPr>
              <a:t>LLM destekli anlatı, oyun kuralları içinde güvenilir biçimde çalışabilir mi?</a:t>
            </a:r>
          </a:p>
        </p:txBody>
      </p:sp>
      <p:sp>
        <p:nvSpPr>
          <p:cNvPr id="4" name="">
            <a:extLst xmlns:a="http://schemas.openxmlformats.org/drawingml/2006/main">
              <a:ext uri="{FF2B5EF4-FFF2-40B4-BE49-F238E27FC236}">
                <a16:creationId xmlns:a16="http://schemas.microsoft.com/office/drawing/2014/main" id="{4D80AB04-F6D0-4550-BED9-971628F3BD32}"/>
              </a:ext>
            </a:extLst>
          </p:cNvPr>
          <p:cNvSpPr>
            <a:spLocks xmlns:a="http://schemas.openxmlformats.org/drawingml/2006/main" noGrp="1"/>
          </p:cNvSpPr>
          <p:nvPr/>
        </p:nvSpPr>
        <p:spPr>
          <a:xfrm xmlns:a="http://schemas.openxmlformats.org/drawingml/2006/main">
            <a:off x="609600" y="269557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BE0C8"/>
                </a:solidFill>
                <a:latin typeface="Aptos"/>
                <a:ea typeface="Aptos"/>
                <a:cs typeface="Aptos"/>
              </a:defRPr>
            </a:pPr>
            <a:r>
              <a:rPr sz="2325" b="1">
                <a:solidFill>
                  <a:srgbClr val="7BE0C8"/>
                </a:solidFill>
                <a:latin typeface="Aptos"/>
                <a:ea typeface="Aptos"/>
                <a:cs typeface="Aptos"/>
              </a:rPr>
              <a:t>Araştırma sorusu</a:t>
            </a:r>
          </a:p>
        </p:txBody>
      </p:sp>
      <p:sp>
        <p:nvSpPr>
          <p:cNvPr id="5" name="">
            <a:extLst xmlns:a="http://schemas.openxmlformats.org/drawingml/2006/main">
              <a:ext uri="{FF2B5EF4-FFF2-40B4-BE49-F238E27FC236}">
                <a16:creationId xmlns:a16="http://schemas.microsoft.com/office/drawing/2014/main" id="{38967566-F9EF-41F6-B6C4-55B622EA7988}"/>
              </a:ext>
            </a:extLst>
          </p:cNvPr>
          <p:cNvSpPr>
            <a:spLocks xmlns:a="http://schemas.openxmlformats.org/drawingml/2006/main" noGrp="1"/>
          </p:cNvSpPr>
          <p:nvPr/>
        </p:nvSpPr>
        <p:spPr>
          <a:xfrm xmlns:a="http://schemas.openxmlformats.org/drawingml/2006/main">
            <a:off x="609600" y="3590925"/>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Bağlam ve doğrulama katmanları, anlatı tutarlılığını kabul edilebilir gecikme ve maliyetle sağlayabilir mi?</a:t>
            </a:r>
          </a:p>
        </p:txBody>
      </p:sp>
      <p:sp>
        <p:nvSpPr>
          <p:cNvPr id="6" name="">
            <a:extLst xmlns:a="http://schemas.openxmlformats.org/drawingml/2006/main">
              <a:ext uri="{FF2B5EF4-FFF2-40B4-BE49-F238E27FC236}">
                <a16:creationId xmlns:a16="http://schemas.microsoft.com/office/drawing/2014/main" id="{3078F962-76AE-4CAD-A4CC-69A0DF327CBD}"/>
              </a:ext>
            </a:extLst>
          </p:cNvPr>
          <p:cNvSpPr>
            <a:spLocks xmlns:a="http://schemas.openxmlformats.org/drawingml/2006/main" noGrp="1"/>
          </p:cNvSpPr>
          <p:nvPr/>
        </p:nvSpPr>
        <p:spPr>
          <a:xfrm xmlns:a="http://schemas.openxmlformats.org/drawingml/2006/main">
            <a:off x="6324600" y="269557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BE0C8"/>
                </a:solidFill>
                <a:latin typeface="Aptos"/>
                <a:ea typeface="Aptos"/>
                <a:cs typeface="Aptos"/>
              </a:defRPr>
            </a:pPr>
            <a:r>
              <a:rPr sz="2325" b="1">
                <a:solidFill>
                  <a:srgbClr val="7BE0C8"/>
                </a:solidFill>
                <a:latin typeface="Aptos"/>
                <a:ea typeface="Aptos"/>
                <a:cs typeface="Aptos"/>
              </a:rPr>
              <a:t>İlk kapsam</a:t>
            </a:r>
          </a:p>
        </p:txBody>
      </p:sp>
      <p:sp>
        <p:nvSpPr>
          <p:cNvPr id="7" name="">
            <a:extLst xmlns:a="http://schemas.openxmlformats.org/drawingml/2006/main">
              <a:ext uri="{FF2B5EF4-FFF2-40B4-BE49-F238E27FC236}">
                <a16:creationId xmlns:a16="http://schemas.microsoft.com/office/drawing/2014/main" id="{781DC654-3DE3-4F27-A0EA-4209D340AAD1}"/>
              </a:ext>
            </a:extLst>
          </p:cNvPr>
          <p:cNvSpPr>
            <a:spLocks xmlns:a="http://schemas.openxmlformats.org/drawingml/2006/main" noGrp="1"/>
          </p:cNvSpPr>
          <p:nvPr/>
        </p:nvSpPr>
        <p:spPr>
          <a:xfrm xmlns:a="http://schemas.openxmlformats.org/drawingml/2006/main">
            <a:off x="6324600" y="3590925"/>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Bir oyun bölgesi, en az bir NPC, dinamik diyalog ve bir görev zinciri. PC üzerinde ölçüm, ardından mobil değerlendirme.</a:t>
            </a:r>
          </a:p>
        </p:txBody>
      </p:sp>
    </p:spTree>
    <p:extLst>
      <p:ext uri="{BB962C8B-B14F-4D97-AF65-F5344CB8AC3E}">
        <p14:creationId xmlns:p14="http://schemas.microsoft.com/office/powerpoint/2010/main" val="1726618833"/>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68F5F5-0F12-44CA-9B67-0F1D1105E003}"/>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Örnek senaryo: köy şifacısı</a:t>
            </a:r>
          </a:p>
        </p:txBody>
      </p:sp>
      <p:sp>
        <p:nvSpPr>
          <p:cNvPr id="2" name="">
            <a:extLst xmlns:a="http://schemas.openxmlformats.org/drawingml/2006/main">
              <a:ext uri="{FF2B5EF4-FFF2-40B4-BE49-F238E27FC236}">
                <a16:creationId xmlns:a16="http://schemas.microsoft.com/office/drawing/2014/main" id="{ABECE23A-15EF-45BC-A677-AA1FCB4D811F}"/>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2808681D-4210-4738-965B-DA3574713953}"/>
              </a:ext>
            </a:extLst>
          </p:cNvPr>
          <p:cNvSpPr>
            <a:spLocks xmlns:a="http://schemas.openxmlformats.org/drawingml/2006/main" noGrp="1"/>
          </p:cNvSpPr>
          <p:nvPr/>
        </p:nvSpPr>
        <p:spPr>
          <a:xfrm xmlns:a="http://schemas.openxmlformats.org/drawingml/2006/main">
            <a:off x="609600" y="1571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7D7A"/>
                </a:solidFill>
                <a:latin typeface="Aptos"/>
                <a:ea typeface="Aptos"/>
                <a:cs typeface="Aptos"/>
              </a:defRPr>
            </a:pPr>
            <a:r>
              <a:rPr sz="2175" b="0">
                <a:solidFill>
                  <a:srgbClr val="147D7A"/>
                </a:solidFill>
                <a:latin typeface="Aptos"/>
                <a:ea typeface="Aptos"/>
                <a:cs typeface="Aptos"/>
              </a:rPr>
              <a:t>Aynı NPC, oyuncunun geçmişine göre farklı bir görev önerebilir.</a:t>
            </a:r>
          </a:p>
        </p:txBody>
      </p:sp>
      <p:sp>
        <p:nvSpPr>
          <p:cNvPr id="4" name="">
            <a:extLst xmlns:a="http://schemas.openxmlformats.org/drawingml/2006/main">
              <a:ext uri="{FF2B5EF4-FFF2-40B4-BE49-F238E27FC236}">
                <a16:creationId xmlns:a16="http://schemas.microsoft.com/office/drawing/2014/main" id="{464EDC15-C21C-4CD3-9A14-50A3A540AFA1}"/>
              </a:ext>
            </a:extLst>
          </p:cNvPr>
          <p:cNvSpPr>
            <a:spLocks xmlns:a="http://schemas.openxmlformats.org/drawingml/2006/main" noGrp="1"/>
          </p:cNvSpPr>
          <p:nvPr/>
        </p:nvSpPr>
        <p:spPr>
          <a:xfrm xmlns:a="http://schemas.openxmlformats.org/drawingml/2006/main">
            <a:off x="609600" y="22383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Oyuncu bağlamı</a:t>
            </a:r>
          </a:p>
        </p:txBody>
      </p:sp>
      <p:sp>
        <p:nvSpPr>
          <p:cNvPr id="5" name="">
            <a:extLst xmlns:a="http://schemas.openxmlformats.org/drawingml/2006/main">
              <a:ext uri="{FF2B5EF4-FFF2-40B4-BE49-F238E27FC236}">
                <a16:creationId xmlns:a16="http://schemas.microsoft.com/office/drawing/2014/main" id="{C00C57CF-B188-4EE3-807C-9A3656FD7CF7}"/>
              </a:ext>
            </a:extLst>
          </p:cNvPr>
          <p:cNvSpPr>
            <a:spLocks xmlns:a="http://schemas.openxmlformats.org/drawingml/2006/main" noGrp="1"/>
          </p:cNvSpPr>
          <p:nvPr/>
        </p:nvSpPr>
        <p:spPr>
          <a:xfrm xmlns:a="http://schemas.openxmlformats.org/drawingml/2006/main">
            <a:off x="3571875" y="223837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Envanterde şifalı ot var. Oyuncu daha önce köylülere yardım etti.</a:t>
            </a:r>
          </a:p>
        </p:txBody>
      </p:sp>
      <p:sp>
        <p:nvSpPr>
          <p:cNvPr id="6" name="">
            <a:extLst xmlns:a="http://schemas.openxmlformats.org/drawingml/2006/main">
              <a:ext uri="{FF2B5EF4-FFF2-40B4-BE49-F238E27FC236}">
                <a16:creationId xmlns:a16="http://schemas.microsoft.com/office/drawing/2014/main" id="{0BA885A7-2B1D-4033-8992-F46B59746549}"/>
              </a:ext>
            </a:extLst>
          </p:cNvPr>
          <p:cNvSpPr>
            <a:spLocks xmlns:a="http://schemas.openxmlformats.org/drawingml/2006/main" noGrp="1"/>
          </p:cNvSpPr>
          <p:nvPr/>
        </p:nvSpPr>
        <p:spPr>
          <a:xfrm xmlns:a="http://schemas.openxmlformats.org/drawingml/2006/main">
            <a:off x="609600" y="313372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NPC yanıtı</a:t>
            </a:r>
          </a:p>
        </p:txBody>
      </p:sp>
      <p:sp>
        <p:nvSpPr>
          <p:cNvPr id="7" name="">
            <a:extLst xmlns:a="http://schemas.openxmlformats.org/drawingml/2006/main">
              <a:ext uri="{FF2B5EF4-FFF2-40B4-BE49-F238E27FC236}">
                <a16:creationId xmlns:a16="http://schemas.microsoft.com/office/drawing/2014/main" id="{ABA32EEA-E9E4-4CC2-A8A6-B78142055382}"/>
              </a:ext>
            </a:extLst>
          </p:cNvPr>
          <p:cNvSpPr>
            <a:spLocks xmlns:a="http://schemas.openxmlformats.org/drawingml/2006/main" noGrp="1"/>
          </p:cNvSpPr>
          <p:nvPr/>
        </p:nvSpPr>
        <p:spPr>
          <a:xfrm xmlns:a="http://schemas.openxmlformats.org/drawingml/2006/main">
            <a:off x="3571875" y="313372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“Otları bulmuşsun. İlacı hazırlayayım, sen de yaralı nöbetçiye ulaştır.”</a:t>
            </a:r>
          </a:p>
        </p:txBody>
      </p:sp>
      <p:sp>
        <p:nvSpPr>
          <p:cNvPr id="8" name="">
            <a:extLst xmlns:a="http://schemas.openxmlformats.org/drawingml/2006/main">
              <a:ext uri="{FF2B5EF4-FFF2-40B4-BE49-F238E27FC236}">
                <a16:creationId xmlns:a16="http://schemas.microsoft.com/office/drawing/2014/main" id="{8DC47585-2EC7-48F0-8D08-F518DE5E1EF1}"/>
              </a:ext>
            </a:extLst>
          </p:cNvPr>
          <p:cNvSpPr>
            <a:spLocks xmlns:a="http://schemas.openxmlformats.org/drawingml/2006/main" noGrp="1"/>
          </p:cNvSpPr>
          <p:nvPr/>
        </p:nvSpPr>
        <p:spPr>
          <a:xfrm xmlns:a="http://schemas.openxmlformats.org/drawingml/2006/main">
            <a:off x="609600" y="40290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Oyun sonucu</a:t>
            </a:r>
          </a:p>
        </p:txBody>
      </p:sp>
      <p:sp>
        <p:nvSpPr>
          <p:cNvPr id="9" name="">
            <a:extLst xmlns:a="http://schemas.openxmlformats.org/drawingml/2006/main">
              <a:ext uri="{FF2B5EF4-FFF2-40B4-BE49-F238E27FC236}">
                <a16:creationId xmlns:a16="http://schemas.microsoft.com/office/drawing/2014/main" id="{7CA635A5-3B3D-4D89-8C3D-9B71E3DC295E}"/>
              </a:ext>
            </a:extLst>
          </p:cNvPr>
          <p:cNvSpPr>
            <a:spLocks xmlns:a="http://schemas.openxmlformats.org/drawingml/2006/main" noGrp="1"/>
          </p:cNvSpPr>
          <p:nvPr/>
        </p:nvSpPr>
        <p:spPr>
          <a:xfrm xmlns:a="http://schemas.openxmlformats.org/drawingml/2006/main">
            <a:off x="3571875" y="402907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Sistem otları kontrol eder, teslim görevini açar ve ilerlemeyi kaydeder.</a:t>
            </a:r>
          </a:p>
        </p:txBody>
      </p:sp>
      <p:sp>
        <p:nvSpPr>
          <p:cNvPr id="10" name="">
            <a:extLst xmlns:a="http://schemas.openxmlformats.org/drawingml/2006/main">
              <a:ext uri="{FF2B5EF4-FFF2-40B4-BE49-F238E27FC236}">
                <a16:creationId xmlns:a16="http://schemas.microsoft.com/office/drawing/2014/main" id="{338A98BE-DA00-4924-93B2-03802E647269}"/>
              </a:ext>
            </a:extLst>
          </p:cNvPr>
          <p:cNvSpPr>
            <a:spLocks xmlns:a="http://schemas.openxmlformats.org/drawingml/2006/main" noGrp="1"/>
          </p:cNvSpPr>
          <p:nvPr/>
        </p:nvSpPr>
        <p:spPr>
          <a:xfrm xmlns:a="http://schemas.openxmlformats.org/drawingml/2006/main">
            <a:off x="609600" y="492442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Alternatif akış</a:t>
            </a:r>
          </a:p>
        </p:txBody>
      </p:sp>
      <p:sp>
        <p:nvSpPr>
          <p:cNvPr id="11" name="">
            <a:extLst xmlns:a="http://schemas.openxmlformats.org/drawingml/2006/main">
              <a:ext uri="{FF2B5EF4-FFF2-40B4-BE49-F238E27FC236}">
                <a16:creationId xmlns:a16="http://schemas.microsoft.com/office/drawing/2014/main" id="{ECABC270-BA91-499B-B650-CE8546AD72AC}"/>
              </a:ext>
            </a:extLst>
          </p:cNvPr>
          <p:cNvSpPr>
            <a:spLocks xmlns:a="http://schemas.openxmlformats.org/drawingml/2006/main" noGrp="1"/>
          </p:cNvSpPr>
          <p:nvPr/>
        </p:nvSpPr>
        <p:spPr>
          <a:xfrm xmlns:a="http://schemas.openxmlformats.org/drawingml/2006/main">
            <a:off x="3571875" y="492442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Ot yoksa toplama görevi önerir. Teslim tamamlandıysa ödülü tekrar vermez.</a:t>
            </a:r>
          </a:p>
        </p:txBody>
      </p:sp>
    </p:spTree>
    <p:extLst>
      <p:ext uri="{BB962C8B-B14F-4D97-AF65-F5344CB8AC3E}">
        <p14:creationId xmlns:p14="http://schemas.microsoft.com/office/powerpoint/2010/main" val="253841477"/>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956BBD-EBE4-446D-831B-6E79168D4FAF}"/>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Olaydan oyun eylemine</a:t>
            </a:r>
          </a:p>
        </p:txBody>
      </p:sp>
      <p:sp>
        <p:nvSpPr>
          <p:cNvPr id="2" name="">
            <a:extLst xmlns:a="http://schemas.openxmlformats.org/drawingml/2006/main">
              <a:ext uri="{FF2B5EF4-FFF2-40B4-BE49-F238E27FC236}">
                <a16:creationId xmlns:a16="http://schemas.microsoft.com/office/drawing/2014/main" id="{954D866B-7A91-4FDE-9D70-AA05BE08A6B8}"/>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DBCF0873-A27D-4528-802F-5DF4DBBB0B26}"/>
              </a:ext>
            </a:extLst>
          </p:cNvPr>
          <p:cNvSpPr>
            <a:spLocks xmlns:a="http://schemas.openxmlformats.org/drawingml/2006/main" noGrp="1"/>
          </p:cNvSpPr>
          <p:nvPr/>
        </p:nvSpPr>
        <p:spPr>
          <a:xfrm xmlns:a="http://schemas.openxmlformats.org/drawingml/2006/main">
            <a:off x="609600" y="1571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7D7A"/>
                </a:solidFill>
                <a:latin typeface="Aptos"/>
                <a:ea typeface="Aptos"/>
                <a:cs typeface="Aptos"/>
              </a:defRPr>
            </a:pPr>
            <a:r>
              <a:rPr sz="2175" b="0">
                <a:solidFill>
                  <a:srgbClr val="147D7A"/>
                </a:solidFill>
                <a:latin typeface="Aptos"/>
                <a:ea typeface="Aptos"/>
                <a:cs typeface="Aptos"/>
              </a:rPr>
              <a:t>Unity olayları bağlamı başlatır, doğrulama katmanı sonucu oyuna uygular.</a:t>
            </a:r>
          </a:p>
        </p:txBody>
      </p:sp>
      <p:sp>
        <p:nvSpPr>
          <p:cNvPr id="4" name="">
            <a:extLst xmlns:a="http://schemas.openxmlformats.org/drawingml/2006/main">
              <a:ext uri="{FF2B5EF4-FFF2-40B4-BE49-F238E27FC236}">
                <a16:creationId xmlns:a16="http://schemas.microsoft.com/office/drawing/2014/main" id="{827BA6B4-E077-4850-BE74-E1E913E73B51}"/>
              </a:ext>
            </a:extLst>
          </p:cNvPr>
          <p:cNvSpPr>
            <a:spLocks xmlns:a="http://schemas.openxmlformats.org/drawingml/2006/main" noGrp="1"/>
          </p:cNvSpPr>
          <p:nvPr/>
        </p:nvSpPr>
        <p:spPr>
          <a:xfrm xmlns:a="http://schemas.openxmlformats.org/drawingml/2006/main">
            <a:off x="609600" y="219075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01  Unity ve olaylar</a:t>
            </a:r>
          </a:p>
        </p:txBody>
      </p:sp>
      <p:sp>
        <p:nvSpPr>
          <p:cNvPr id="5" name="">
            <a:extLst xmlns:a="http://schemas.openxmlformats.org/drawingml/2006/main">
              <a:ext uri="{FF2B5EF4-FFF2-40B4-BE49-F238E27FC236}">
                <a16:creationId xmlns:a16="http://schemas.microsoft.com/office/drawing/2014/main" id="{2F82E1A6-7917-4A2E-8A22-4C5FD6A3B923}"/>
              </a:ext>
            </a:extLst>
          </p:cNvPr>
          <p:cNvSpPr>
            <a:spLocks xmlns:a="http://schemas.openxmlformats.org/drawingml/2006/main" noGrp="1"/>
          </p:cNvSpPr>
          <p:nvPr/>
        </p:nvSpPr>
        <p:spPr>
          <a:xfrm xmlns:a="http://schemas.openxmlformats.org/drawingml/2006/main">
            <a:off x="3571875" y="21907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Konuşma, bölgeye giriş, eşya teslimi. Event Manager ilgili NPC’yi uyarır.</a:t>
            </a:r>
          </a:p>
        </p:txBody>
      </p:sp>
      <p:sp>
        <p:nvSpPr>
          <p:cNvPr id="6" name="">
            <a:extLst xmlns:a="http://schemas.openxmlformats.org/drawingml/2006/main">
              <a:ext uri="{FF2B5EF4-FFF2-40B4-BE49-F238E27FC236}">
                <a16:creationId xmlns:a16="http://schemas.microsoft.com/office/drawing/2014/main" id="{354B6A56-0418-4D68-9D35-81486A8DB12E}"/>
              </a:ext>
            </a:extLst>
          </p:cNvPr>
          <p:cNvSpPr>
            <a:spLocks xmlns:a="http://schemas.openxmlformats.org/drawingml/2006/main" noGrp="1"/>
          </p:cNvSpPr>
          <p:nvPr/>
        </p:nvSpPr>
        <p:spPr>
          <a:xfrm xmlns:a="http://schemas.openxmlformats.org/drawingml/2006/main">
            <a:off x="609600" y="312420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02  NPC beyni</a:t>
            </a:r>
          </a:p>
        </p:txBody>
      </p:sp>
      <p:sp>
        <p:nvSpPr>
          <p:cNvPr id="7" name="">
            <a:extLst xmlns:a="http://schemas.openxmlformats.org/drawingml/2006/main">
              <a:ext uri="{FF2B5EF4-FFF2-40B4-BE49-F238E27FC236}">
                <a16:creationId xmlns:a16="http://schemas.microsoft.com/office/drawing/2014/main" id="{0A4378D2-FBFA-45AF-AE89-FA48CC60437C}"/>
              </a:ext>
            </a:extLst>
          </p:cNvPr>
          <p:cNvSpPr>
            <a:spLocks xmlns:a="http://schemas.openxmlformats.org/drawingml/2006/main" noGrp="1"/>
          </p:cNvSpPr>
          <p:nvPr/>
        </p:nvSpPr>
        <p:spPr>
          <a:xfrm xmlns:a="http://schemas.openxmlformats.org/drawingml/2006/main">
            <a:off x="3571875" y="312420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Hafıza ve dünya durumundan gerekli bağlamı seçer, isteği hazırlar.</a:t>
            </a:r>
          </a:p>
        </p:txBody>
      </p:sp>
      <p:sp>
        <p:nvSpPr>
          <p:cNvPr id="8" name="">
            <a:extLst xmlns:a="http://schemas.openxmlformats.org/drawingml/2006/main">
              <a:ext uri="{FF2B5EF4-FFF2-40B4-BE49-F238E27FC236}">
                <a16:creationId xmlns:a16="http://schemas.microsoft.com/office/drawing/2014/main" id="{F93CDCC4-19AD-4BDA-8678-3303C458FA75}"/>
              </a:ext>
            </a:extLst>
          </p:cNvPr>
          <p:cNvSpPr>
            <a:spLocks xmlns:a="http://schemas.openxmlformats.org/drawingml/2006/main" noGrp="1"/>
          </p:cNvSpPr>
          <p:nvPr/>
        </p:nvSpPr>
        <p:spPr>
          <a:xfrm xmlns:a="http://schemas.openxmlformats.org/drawingml/2006/main">
            <a:off x="609600" y="405765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03  API katmanı</a:t>
            </a:r>
          </a:p>
        </p:txBody>
      </p:sp>
      <p:sp>
        <p:nvSpPr>
          <p:cNvPr id="9" name="">
            <a:extLst xmlns:a="http://schemas.openxmlformats.org/drawingml/2006/main">
              <a:ext uri="{FF2B5EF4-FFF2-40B4-BE49-F238E27FC236}">
                <a16:creationId xmlns:a16="http://schemas.microsoft.com/office/drawing/2014/main" id="{A3F87B7C-9E74-4A34-BA7B-34A7E3BCB3D2}"/>
              </a:ext>
            </a:extLst>
          </p:cNvPr>
          <p:cNvSpPr>
            <a:spLocks xmlns:a="http://schemas.openxmlformats.org/drawingml/2006/main" noGrp="1"/>
          </p:cNvSpPr>
          <p:nvPr/>
        </p:nvSpPr>
        <p:spPr>
          <a:xfrm xmlns:a="http://schemas.openxmlformats.org/drawingml/2006/main">
            <a:off x="3571875" y="40576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Sunucu aracısı üzerinden asenkron istek. Sağlayıcı adaptörü LLM’e erişir.</a:t>
            </a:r>
          </a:p>
        </p:txBody>
      </p:sp>
      <p:sp>
        <p:nvSpPr>
          <p:cNvPr id="10" name="">
            <a:extLst xmlns:a="http://schemas.openxmlformats.org/drawingml/2006/main">
              <a:ext uri="{FF2B5EF4-FFF2-40B4-BE49-F238E27FC236}">
                <a16:creationId xmlns:a16="http://schemas.microsoft.com/office/drawing/2014/main" id="{2D9B8D3A-D08A-4F2A-B9EA-737209E5C96E}"/>
              </a:ext>
            </a:extLst>
          </p:cNvPr>
          <p:cNvSpPr>
            <a:spLocks xmlns:a="http://schemas.openxmlformats.org/drawingml/2006/main" noGrp="1"/>
          </p:cNvSpPr>
          <p:nvPr/>
        </p:nvSpPr>
        <p:spPr>
          <a:xfrm xmlns:a="http://schemas.openxmlformats.org/drawingml/2006/main">
            <a:off x="609600" y="499110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04  Oyun yürütücüsü</a:t>
            </a:r>
          </a:p>
        </p:txBody>
      </p:sp>
      <p:sp>
        <p:nvSpPr>
          <p:cNvPr id="11" name="">
            <a:extLst xmlns:a="http://schemas.openxmlformats.org/drawingml/2006/main">
              <a:ext uri="{FF2B5EF4-FFF2-40B4-BE49-F238E27FC236}">
                <a16:creationId xmlns:a16="http://schemas.microsoft.com/office/drawing/2014/main" id="{729A922D-3A97-483D-BC4A-326763CC1766}"/>
              </a:ext>
            </a:extLst>
          </p:cNvPr>
          <p:cNvSpPr>
            <a:spLocks xmlns:a="http://schemas.openxmlformats.org/drawingml/2006/main" noGrp="1"/>
          </p:cNvSpPr>
          <p:nvPr/>
        </p:nvSpPr>
        <p:spPr>
          <a:xfrm xmlns:a="http://schemas.openxmlformats.org/drawingml/2006/main">
            <a:off x="3571875" y="499110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JSON’u ve oyun kurallarını doğrular. Diyalog, görev veya izinli eylemi uygular.</a:t>
            </a:r>
          </a:p>
        </p:txBody>
      </p:sp>
    </p:spTree>
    <p:extLst>
      <p:ext uri="{BB962C8B-B14F-4D97-AF65-F5344CB8AC3E}">
        <p14:creationId xmlns:p14="http://schemas.microsoft.com/office/powerpoint/2010/main" val="759019913"/>
      </p:ext>
    </p:extLst>
  </p:cSld>
</p:sld>
</file>

<file path=ppt/slides/slide6.xml><?xml version="1.0" encoding="utf-8"?>
<p:sld xmlns:p="http://schemas.openxmlformats.org/presentationml/2006/main">
  <p:cSld>
    <p:bg>
      <p:bgPr>
        <a:solidFill xmlns:a="http://schemas.openxmlformats.org/drawingml/2006/main">
          <a:srgbClr val="101F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74AF677-515F-49C7-97E1-D09ED25CA0E1}"/>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NPC beyninin dört katmanı</a:t>
            </a:r>
          </a:p>
        </p:txBody>
      </p:sp>
      <p:sp>
        <p:nvSpPr>
          <p:cNvPr id="2" name="">
            <a:extLst xmlns:a="http://schemas.openxmlformats.org/drawingml/2006/main">
              <a:ext uri="{FF2B5EF4-FFF2-40B4-BE49-F238E27FC236}">
                <a16:creationId xmlns:a16="http://schemas.microsoft.com/office/drawing/2014/main" id="{B519654C-F843-4727-95A5-447D802D0781}"/>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BC5"/>
                </a:solidFill>
                <a:latin typeface="Aptos"/>
                <a:ea typeface="Aptos"/>
                <a:cs typeface="Aptos"/>
              </a:defRPr>
            </a:pPr>
            <a:r>
              <a:rPr sz="1350" b="0">
                <a:solidFill>
                  <a:srgbClr val="A7BBC5"/>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E6BA7715-4AC8-4F42-9DD3-53A29F8E8AED}"/>
              </a:ext>
            </a:extLst>
          </p:cNvPr>
          <p:cNvSpPr>
            <a:spLocks xmlns:a="http://schemas.openxmlformats.org/drawingml/2006/main" noGrp="1"/>
          </p:cNvSpPr>
          <p:nvPr/>
        </p:nvSpPr>
        <p:spPr>
          <a:xfrm xmlns:a="http://schemas.openxmlformats.org/drawingml/2006/main">
            <a:off x="609600" y="195262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BE0C8"/>
                </a:solidFill>
                <a:latin typeface="Aptos"/>
                <a:ea typeface="Aptos"/>
                <a:cs typeface="Aptos"/>
              </a:defRPr>
            </a:pPr>
            <a:r>
              <a:rPr sz="2025" b="1">
                <a:solidFill>
                  <a:srgbClr val="7BE0C8"/>
                </a:solidFill>
                <a:latin typeface="Aptos"/>
                <a:ea typeface="Aptos"/>
                <a:cs typeface="Aptos"/>
              </a:rPr>
              <a:t>Algılama</a:t>
            </a:r>
          </a:p>
        </p:txBody>
      </p:sp>
      <p:sp>
        <p:nvSpPr>
          <p:cNvPr id="4" name="">
            <a:extLst xmlns:a="http://schemas.openxmlformats.org/drawingml/2006/main">
              <a:ext uri="{FF2B5EF4-FFF2-40B4-BE49-F238E27FC236}">
                <a16:creationId xmlns:a16="http://schemas.microsoft.com/office/drawing/2014/main" id="{1AEBCFC3-E07B-4208-88B2-8B39666CC7FA}"/>
              </a:ext>
            </a:extLst>
          </p:cNvPr>
          <p:cNvSpPr>
            <a:spLocks xmlns:a="http://schemas.openxmlformats.org/drawingml/2006/main" noGrp="1"/>
          </p:cNvSpPr>
          <p:nvPr/>
        </p:nvSpPr>
        <p:spPr>
          <a:xfrm xmlns:a="http://schemas.openxmlformats.org/drawingml/2006/main">
            <a:off x="3571875" y="195262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2EAED"/>
                </a:solidFill>
                <a:latin typeface="Aptos"/>
                <a:ea typeface="Aptos"/>
                <a:cs typeface="Aptos"/>
              </a:defRPr>
            </a:pPr>
            <a:r>
              <a:rPr sz="1950" b="0">
                <a:solidFill>
                  <a:srgbClr val="E2EAED"/>
                </a:solidFill>
                <a:latin typeface="Aptos"/>
                <a:ea typeface="Aptos"/>
                <a:cs typeface="Aptos"/>
              </a:rPr>
              <a:t>Yalnızca NPC ile ilgili oyuncu ve dünya olaylarını dinler.</a:t>
            </a:r>
          </a:p>
        </p:txBody>
      </p:sp>
      <p:sp>
        <p:nvSpPr>
          <p:cNvPr id="5" name="">
            <a:extLst xmlns:a="http://schemas.openxmlformats.org/drawingml/2006/main">
              <a:ext uri="{FF2B5EF4-FFF2-40B4-BE49-F238E27FC236}">
                <a16:creationId xmlns:a16="http://schemas.microsoft.com/office/drawing/2014/main" id="{A9ADC9F5-F0E0-4C8E-95DE-EA175EF51B64}"/>
              </a:ext>
            </a:extLst>
          </p:cNvPr>
          <p:cNvSpPr>
            <a:spLocks xmlns:a="http://schemas.openxmlformats.org/drawingml/2006/main" noGrp="1"/>
          </p:cNvSpPr>
          <p:nvPr/>
        </p:nvSpPr>
        <p:spPr>
          <a:xfrm xmlns:a="http://schemas.openxmlformats.org/drawingml/2006/main">
            <a:off x="609600" y="295275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BE0C8"/>
                </a:solidFill>
                <a:latin typeface="Aptos"/>
                <a:ea typeface="Aptos"/>
                <a:cs typeface="Aptos"/>
              </a:defRPr>
            </a:pPr>
            <a:r>
              <a:rPr sz="2025" b="1">
                <a:solidFill>
                  <a:srgbClr val="7BE0C8"/>
                </a:solidFill>
                <a:latin typeface="Aptos"/>
                <a:ea typeface="Aptos"/>
                <a:cs typeface="Aptos"/>
              </a:rPr>
              <a:t>Hafıza</a:t>
            </a:r>
          </a:p>
        </p:txBody>
      </p:sp>
      <p:sp>
        <p:nvSpPr>
          <p:cNvPr id="6" name="">
            <a:extLst xmlns:a="http://schemas.openxmlformats.org/drawingml/2006/main">
              <a:ext uri="{FF2B5EF4-FFF2-40B4-BE49-F238E27FC236}">
                <a16:creationId xmlns:a16="http://schemas.microsoft.com/office/drawing/2014/main" id="{6C45483A-E62E-4CF7-8E58-CE785FB75A66}"/>
              </a:ext>
            </a:extLst>
          </p:cNvPr>
          <p:cNvSpPr>
            <a:spLocks xmlns:a="http://schemas.openxmlformats.org/drawingml/2006/main" noGrp="1"/>
          </p:cNvSpPr>
          <p:nvPr/>
        </p:nvSpPr>
        <p:spPr>
          <a:xfrm xmlns:a="http://schemas.openxmlformats.org/drawingml/2006/main">
            <a:off x="3571875" y="29527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2EAED"/>
                </a:solidFill>
                <a:latin typeface="Aptos"/>
                <a:ea typeface="Aptos"/>
                <a:cs typeface="Aptos"/>
              </a:defRPr>
            </a:pPr>
            <a:r>
              <a:rPr sz="1950" b="0">
                <a:solidFill>
                  <a:srgbClr val="E2EAED"/>
                </a:solidFill>
                <a:latin typeface="Aptos"/>
                <a:ea typeface="Aptos"/>
                <a:cs typeface="Aptos"/>
              </a:rPr>
              <a:t>Son konuşmaları ve önemli geçmiş kararların özetini tutar.</a:t>
            </a:r>
          </a:p>
        </p:txBody>
      </p:sp>
      <p:sp>
        <p:nvSpPr>
          <p:cNvPr id="7" name="">
            <a:extLst xmlns:a="http://schemas.openxmlformats.org/drawingml/2006/main">
              <a:ext uri="{FF2B5EF4-FFF2-40B4-BE49-F238E27FC236}">
                <a16:creationId xmlns:a16="http://schemas.microsoft.com/office/drawing/2014/main" id="{FF002FB3-B4ED-41C2-83B1-7B2B9E85B535}"/>
              </a:ext>
            </a:extLst>
          </p:cNvPr>
          <p:cNvSpPr>
            <a:spLocks xmlns:a="http://schemas.openxmlformats.org/drawingml/2006/main" noGrp="1"/>
          </p:cNvSpPr>
          <p:nvPr/>
        </p:nvSpPr>
        <p:spPr>
          <a:xfrm xmlns:a="http://schemas.openxmlformats.org/drawingml/2006/main">
            <a:off x="609600" y="39528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BE0C8"/>
                </a:solidFill>
                <a:latin typeface="Aptos"/>
                <a:ea typeface="Aptos"/>
                <a:cs typeface="Aptos"/>
              </a:defRPr>
            </a:pPr>
            <a:r>
              <a:rPr sz="2025" b="1">
                <a:solidFill>
                  <a:srgbClr val="7BE0C8"/>
                </a:solidFill>
                <a:latin typeface="Aptos"/>
                <a:ea typeface="Aptos"/>
                <a:cs typeface="Aptos"/>
              </a:rPr>
              <a:t>Karar verme</a:t>
            </a:r>
          </a:p>
        </p:txBody>
      </p:sp>
      <p:sp>
        <p:nvSpPr>
          <p:cNvPr id="8" name="">
            <a:extLst xmlns:a="http://schemas.openxmlformats.org/drawingml/2006/main">
              <a:ext uri="{FF2B5EF4-FFF2-40B4-BE49-F238E27FC236}">
                <a16:creationId xmlns:a16="http://schemas.microsoft.com/office/drawing/2014/main" id="{BD5AA992-31F3-49F6-9F21-EE205330473D}"/>
              </a:ext>
            </a:extLst>
          </p:cNvPr>
          <p:cNvSpPr>
            <a:spLocks xmlns:a="http://schemas.openxmlformats.org/drawingml/2006/main" noGrp="1"/>
          </p:cNvSpPr>
          <p:nvPr/>
        </p:nvSpPr>
        <p:spPr>
          <a:xfrm xmlns:a="http://schemas.openxmlformats.org/drawingml/2006/main">
            <a:off x="3571875" y="395287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2EAED"/>
                </a:solidFill>
                <a:latin typeface="Aptos"/>
                <a:ea typeface="Aptos"/>
                <a:cs typeface="Aptos"/>
              </a:defRPr>
            </a:pPr>
            <a:r>
              <a:rPr sz="1950" b="0">
                <a:solidFill>
                  <a:srgbClr val="E2EAED"/>
                </a:solidFill>
                <a:latin typeface="Aptos"/>
                <a:ea typeface="Aptos"/>
                <a:cs typeface="Aptos"/>
              </a:rPr>
              <a:t>NPC kişiliğini, mevcut hedefi ve izin verilen eylemleri belirler.</a:t>
            </a:r>
          </a:p>
        </p:txBody>
      </p:sp>
      <p:sp>
        <p:nvSpPr>
          <p:cNvPr id="9" name="">
            <a:extLst xmlns:a="http://schemas.openxmlformats.org/drawingml/2006/main">
              <a:ext uri="{FF2B5EF4-FFF2-40B4-BE49-F238E27FC236}">
                <a16:creationId xmlns:a16="http://schemas.microsoft.com/office/drawing/2014/main" id="{B33B66F9-5B5C-446E-8F51-F6FBB75F68EC}"/>
              </a:ext>
            </a:extLst>
          </p:cNvPr>
          <p:cNvSpPr>
            <a:spLocks xmlns:a="http://schemas.openxmlformats.org/drawingml/2006/main" noGrp="1"/>
          </p:cNvSpPr>
          <p:nvPr/>
        </p:nvSpPr>
        <p:spPr>
          <a:xfrm xmlns:a="http://schemas.openxmlformats.org/drawingml/2006/main">
            <a:off x="609600" y="495300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BE0C8"/>
                </a:solidFill>
                <a:latin typeface="Aptos"/>
                <a:ea typeface="Aptos"/>
                <a:cs typeface="Aptos"/>
              </a:defRPr>
            </a:pPr>
            <a:r>
              <a:rPr sz="2025" b="1">
                <a:solidFill>
                  <a:srgbClr val="7BE0C8"/>
                </a:solidFill>
                <a:latin typeface="Aptos"/>
                <a:ea typeface="Aptos"/>
                <a:cs typeface="Aptos"/>
              </a:rPr>
              <a:t>Üretim</a:t>
            </a:r>
          </a:p>
        </p:txBody>
      </p:sp>
      <p:sp>
        <p:nvSpPr>
          <p:cNvPr id="10" name="">
            <a:extLst xmlns:a="http://schemas.openxmlformats.org/drawingml/2006/main">
              <a:ext uri="{FF2B5EF4-FFF2-40B4-BE49-F238E27FC236}">
                <a16:creationId xmlns:a16="http://schemas.microsoft.com/office/drawing/2014/main" id="{8314CEE6-47CF-4EA9-B686-89A15ECFE9BA}"/>
              </a:ext>
            </a:extLst>
          </p:cNvPr>
          <p:cNvSpPr>
            <a:spLocks xmlns:a="http://schemas.openxmlformats.org/drawingml/2006/main" noGrp="1"/>
          </p:cNvSpPr>
          <p:nvPr/>
        </p:nvSpPr>
        <p:spPr>
          <a:xfrm xmlns:a="http://schemas.openxmlformats.org/drawingml/2006/main">
            <a:off x="3571875" y="495300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2EAED"/>
                </a:solidFill>
                <a:latin typeface="Aptos"/>
                <a:ea typeface="Aptos"/>
                <a:cs typeface="Aptos"/>
              </a:defRPr>
            </a:pPr>
            <a:r>
              <a:rPr sz="1950" b="0">
                <a:solidFill>
                  <a:srgbClr val="E2EAED"/>
                </a:solidFill>
                <a:latin typeface="Aptos"/>
                <a:ea typeface="Aptos"/>
                <a:cs typeface="Aptos"/>
              </a:rPr>
              <a:t>Bağlamı prompt’a dönüştürür ve yapılandırılmış yanıt ister.</a:t>
            </a:r>
          </a:p>
        </p:txBody>
      </p:sp>
      <p:sp>
        <p:nvSpPr>
          <p:cNvPr id="11" name="">
            <a:extLst xmlns:a="http://schemas.openxmlformats.org/drawingml/2006/main">
              <a:ext uri="{FF2B5EF4-FFF2-40B4-BE49-F238E27FC236}">
                <a16:creationId xmlns:a16="http://schemas.microsoft.com/office/drawing/2014/main" id="{99DAF83B-DC28-4CF0-8EE7-D2BA4FBF82A3}"/>
              </a:ext>
            </a:extLst>
          </p:cNvPr>
          <p:cNvSpPr>
            <a:spLocks xmlns:a="http://schemas.openxmlformats.org/drawingml/2006/main" noGrp="1"/>
          </p:cNvSpPr>
          <p:nvPr/>
        </p:nvSpPr>
        <p:spPr>
          <a:xfrm xmlns:a="http://schemas.openxmlformats.org/drawingml/2006/main">
            <a:off x="609600" y="60579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BE0C8"/>
                </a:solidFill>
                <a:latin typeface="Aptos"/>
                <a:ea typeface="Aptos"/>
                <a:cs typeface="Aptos"/>
              </a:defRPr>
            </a:pPr>
            <a:r>
              <a:rPr sz="1875" b="0">
                <a:solidFill>
                  <a:srgbClr val="7BE0C8"/>
                </a:solidFill>
                <a:latin typeface="Aptos"/>
                <a:ea typeface="Aptos"/>
                <a:cs typeface="Aptos"/>
              </a:rPr>
              <a:t>Gerçek dünya durumu, envanter ve görev kayıtlarında tutulur.</a:t>
            </a:r>
          </a:p>
        </p:txBody>
      </p:sp>
    </p:spTree>
    <p:extLst>
      <p:ext uri="{BB962C8B-B14F-4D97-AF65-F5344CB8AC3E}">
        <p14:creationId xmlns:p14="http://schemas.microsoft.com/office/powerpoint/2010/main" val="684074005"/>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7AE628-B125-4CFE-8891-1F0AE0C68555}"/>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JSON yanıtı ve eylem sözleşmesi</a:t>
            </a:r>
          </a:p>
        </p:txBody>
      </p:sp>
      <p:sp>
        <p:nvSpPr>
          <p:cNvPr id="2" name="">
            <a:extLst xmlns:a="http://schemas.openxmlformats.org/drawingml/2006/main">
              <a:ext uri="{FF2B5EF4-FFF2-40B4-BE49-F238E27FC236}">
                <a16:creationId xmlns:a16="http://schemas.microsoft.com/office/drawing/2014/main" id="{FA09B165-701D-408C-B1EE-DE9CC2B44D2A}"/>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AC59AF65-A96C-4CB4-B5A9-825605EF7BEC}"/>
              </a:ext>
            </a:extLst>
          </p:cNvPr>
          <p:cNvSpPr>
            <a:spLocks xmlns:a="http://schemas.openxmlformats.org/drawingml/2006/main" noGrp="1"/>
          </p:cNvSpPr>
          <p:nvPr/>
        </p:nvSpPr>
        <p:spPr>
          <a:xfrm xmlns:a="http://schemas.openxmlformats.org/drawingml/2006/main">
            <a:off x="609600" y="174307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A"/>
                </a:solidFill>
                <a:latin typeface="Aptos"/>
                <a:ea typeface="Aptos"/>
                <a:cs typeface="Aptos"/>
              </a:defRPr>
            </a:pPr>
            <a:r>
              <a:rPr sz="2100" b="1">
                <a:solidFill>
                  <a:srgbClr val="147D7A"/>
                </a:solidFill>
                <a:latin typeface="Aptos"/>
                <a:ea typeface="Aptos"/>
                <a:cs typeface="Aptos"/>
              </a:rPr>
              <a:t>Örnek API yanıtı</a:t>
            </a:r>
          </a:p>
        </p:txBody>
      </p:sp>
      <p:sp>
        <p:nvSpPr>
          <p:cNvPr id="4" name="">
            <a:extLst xmlns:a="http://schemas.openxmlformats.org/drawingml/2006/main">
              <a:ext uri="{FF2B5EF4-FFF2-40B4-BE49-F238E27FC236}">
                <a16:creationId xmlns:a16="http://schemas.microsoft.com/office/drawing/2014/main" id="{22393520-4E85-4E93-AF64-E0DFADBC57E2}"/>
              </a:ext>
            </a:extLst>
          </p:cNvPr>
          <p:cNvSpPr>
            <a:spLocks xmlns:a="http://schemas.openxmlformats.org/drawingml/2006/main" noGrp="1"/>
          </p:cNvSpPr>
          <p:nvPr/>
        </p:nvSpPr>
        <p:spPr>
          <a:xfrm xmlns:a="http://schemas.openxmlformats.org/drawingml/2006/main">
            <a:off x="609600" y="2428875"/>
            <a:ext cx="65246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  "dialogue": "İlacı nöbetçiye ulaştır.",</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  "action": "offer_quest",</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  "quest_id": "deliver_medicine",</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  "target_id": "village_guard"</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a:t>
            </a:r>
          </a:p>
        </p:txBody>
      </p:sp>
      <p:sp>
        <p:nvSpPr>
          <p:cNvPr id="5" name="">
            <a:extLst xmlns:a="http://schemas.openxmlformats.org/drawingml/2006/main">
              <a:ext uri="{FF2B5EF4-FFF2-40B4-BE49-F238E27FC236}">
                <a16:creationId xmlns:a16="http://schemas.microsoft.com/office/drawing/2014/main" id="{64223EA5-1C5F-4848-948F-F216EAE2471F}"/>
              </a:ext>
            </a:extLst>
          </p:cNvPr>
          <p:cNvSpPr>
            <a:spLocks xmlns:a="http://schemas.openxmlformats.org/drawingml/2006/main" noGrp="1"/>
          </p:cNvSpPr>
          <p:nvPr/>
        </p:nvSpPr>
        <p:spPr>
          <a:xfrm xmlns:a="http://schemas.openxmlformats.org/drawingml/2006/main">
            <a:off x="7620000" y="17430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D7A"/>
                </a:solidFill>
                <a:latin typeface="Aptos"/>
                <a:ea typeface="Aptos"/>
                <a:cs typeface="Aptos"/>
              </a:defRPr>
            </a:pPr>
            <a:r>
              <a:rPr sz="2100" b="1">
                <a:solidFill>
                  <a:srgbClr val="147D7A"/>
                </a:solidFill>
                <a:latin typeface="Aptos"/>
                <a:ea typeface="Aptos"/>
                <a:cs typeface="Aptos"/>
              </a:rPr>
              <a:t>Uygulama koşulları</a:t>
            </a:r>
          </a:p>
        </p:txBody>
      </p:sp>
      <p:sp>
        <p:nvSpPr>
          <p:cNvPr id="6" name="">
            <a:extLst xmlns:a="http://schemas.openxmlformats.org/drawingml/2006/main">
              <a:ext uri="{FF2B5EF4-FFF2-40B4-BE49-F238E27FC236}">
                <a16:creationId xmlns:a16="http://schemas.microsoft.com/office/drawing/2014/main" id="{AB071866-A5C9-4887-B937-B47CD71A3AFA}"/>
              </a:ext>
            </a:extLst>
          </p:cNvPr>
          <p:cNvSpPr>
            <a:spLocks xmlns:a="http://schemas.openxmlformats.org/drawingml/2006/main" noGrp="1"/>
          </p:cNvSpPr>
          <p:nvPr/>
        </p:nvSpPr>
        <p:spPr>
          <a:xfrm xmlns:a="http://schemas.openxmlformats.org/drawingml/2006/main">
            <a:off x="7620000" y="2428875"/>
            <a:ext cx="38290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Şema doğru mu?</a:t>
            </a:r>
          </a:p>
          <a:p xmlns:a="http://schemas.openxmlformats.org/drawingml/2006/main">
            <a:r>
              <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Eylem izinli mi?</a:t>
            </a:r>
          </a:p>
          <a:p xmlns:a="http://schemas.openxmlformats.org/drawingml/2006/main">
            <a:r>
              <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Hedef ve görev mevcut mu?</a:t>
            </a:r>
          </a:p>
          <a:p xmlns:a="http://schemas.openxmlformats.org/drawingml/2006/main">
            <a:r>
              <a:t/>
            </a:r>
          </a:p>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Ön koşullar sağlanıyor mu?</a:t>
            </a:r>
          </a:p>
        </p:txBody>
      </p:sp>
      <p:sp>
        <p:nvSpPr>
          <p:cNvPr id="7" name="">
            <a:extLst xmlns:a="http://schemas.openxmlformats.org/drawingml/2006/main">
              <a:ext uri="{FF2B5EF4-FFF2-40B4-BE49-F238E27FC236}">
                <a16:creationId xmlns:a16="http://schemas.microsoft.com/office/drawing/2014/main" id="{54B2DB51-0C62-4410-9687-ED802DAF742C}"/>
              </a:ext>
            </a:extLst>
          </p:cNvPr>
          <p:cNvSpPr>
            <a:spLocks xmlns:a="http://schemas.openxmlformats.org/drawingml/2006/main" noGrp="1"/>
          </p:cNvSpPr>
          <p:nvPr/>
        </p:nvSpPr>
        <p:spPr>
          <a:xfrm xmlns:a="http://schemas.openxmlformats.org/drawingml/2006/main">
            <a:off x="609600" y="58197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Geçersiz yanıt oyun durumunu değiştirmez. Sistem yedek diyaloğa geçer.</a:t>
            </a:r>
          </a:p>
        </p:txBody>
      </p:sp>
    </p:spTree>
    <p:extLst>
      <p:ext uri="{BB962C8B-B14F-4D97-AF65-F5344CB8AC3E}">
        <p14:creationId xmlns:p14="http://schemas.microsoft.com/office/powerpoint/2010/main" val="401243171"/>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14AD3B-B2B1-48DD-881B-250FF7F77FA8}"/>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Tutarlılık ve hata toleransı</a:t>
            </a:r>
          </a:p>
        </p:txBody>
      </p:sp>
      <p:sp>
        <p:nvSpPr>
          <p:cNvPr id="2" name="">
            <a:extLst xmlns:a="http://schemas.openxmlformats.org/drawingml/2006/main">
              <a:ext uri="{FF2B5EF4-FFF2-40B4-BE49-F238E27FC236}">
                <a16:creationId xmlns:a16="http://schemas.microsoft.com/office/drawing/2014/main" id="{C6E77A59-257E-4DA0-93B4-486AFEA73B84}"/>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98EB375A-A56F-43E0-B98B-126B209BBA1F}"/>
              </a:ext>
            </a:extLst>
          </p:cNvPr>
          <p:cNvSpPr>
            <a:spLocks xmlns:a="http://schemas.openxmlformats.org/drawingml/2006/main" noGrp="1"/>
          </p:cNvSpPr>
          <p:nvPr/>
        </p:nvSpPr>
        <p:spPr>
          <a:xfrm xmlns:a="http://schemas.openxmlformats.org/drawingml/2006/main">
            <a:off x="609600" y="20097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Halüsinasyon</a:t>
            </a:r>
          </a:p>
        </p:txBody>
      </p:sp>
      <p:sp>
        <p:nvSpPr>
          <p:cNvPr id="4" name="">
            <a:extLst xmlns:a="http://schemas.openxmlformats.org/drawingml/2006/main">
              <a:ext uri="{FF2B5EF4-FFF2-40B4-BE49-F238E27FC236}">
                <a16:creationId xmlns:a16="http://schemas.microsoft.com/office/drawing/2014/main" id="{EFB7FD1F-E5DE-457B-A231-FAA5E40EC36E}"/>
              </a:ext>
            </a:extLst>
          </p:cNvPr>
          <p:cNvSpPr>
            <a:spLocks xmlns:a="http://schemas.openxmlformats.org/drawingml/2006/main" noGrp="1"/>
          </p:cNvSpPr>
          <p:nvPr/>
        </p:nvSpPr>
        <p:spPr>
          <a:xfrm xmlns:a="http://schemas.openxmlformats.org/drawingml/2006/main">
            <a:off x="3571875" y="200977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İzinli eşya, görev ve hedef listesi. Anlatı ile oyun durumu arasında kontrol.</a:t>
            </a:r>
          </a:p>
        </p:txBody>
      </p:sp>
      <p:sp>
        <p:nvSpPr>
          <p:cNvPr id="5" name="">
            <a:extLst xmlns:a="http://schemas.openxmlformats.org/drawingml/2006/main">
              <a:ext uri="{FF2B5EF4-FFF2-40B4-BE49-F238E27FC236}">
                <a16:creationId xmlns:a16="http://schemas.microsoft.com/office/drawing/2014/main" id="{075DD0C0-7217-4202-99EA-386655D8A241}"/>
              </a:ext>
            </a:extLst>
          </p:cNvPr>
          <p:cNvSpPr>
            <a:spLocks xmlns:a="http://schemas.openxmlformats.org/drawingml/2006/main" noGrp="1"/>
          </p:cNvSpPr>
          <p:nvPr/>
        </p:nvSpPr>
        <p:spPr>
          <a:xfrm xmlns:a="http://schemas.openxmlformats.org/drawingml/2006/main">
            <a:off x="609600" y="301942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API kesintisi</a:t>
            </a:r>
          </a:p>
        </p:txBody>
      </p:sp>
      <p:sp>
        <p:nvSpPr>
          <p:cNvPr id="6" name="">
            <a:extLst xmlns:a="http://schemas.openxmlformats.org/drawingml/2006/main">
              <a:ext uri="{FF2B5EF4-FFF2-40B4-BE49-F238E27FC236}">
                <a16:creationId xmlns:a16="http://schemas.microsoft.com/office/drawing/2014/main" id="{DFD9EC9B-EE0A-4085-BD11-8A4B1B380641}"/>
              </a:ext>
            </a:extLst>
          </p:cNvPr>
          <p:cNvSpPr>
            <a:spLocks xmlns:a="http://schemas.openxmlformats.org/drawingml/2006/main" noGrp="1"/>
          </p:cNvSpPr>
          <p:nvPr/>
        </p:nvSpPr>
        <p:spPr>
          <a:xfrm xmlns:a="http://schemas.openxmlformats.org/drawingml/2006/main">
            <a:off x="3571875" y="301942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Zaman aşımı, sınırlı yeniden deneme ve yerel yedek diyalog.</a:t>
            </a:r>
          </a:p>
        </p:txBody>
      </p:sp>
      <p:sp>
        <p:nvSpPr>
          <p:cNvPr id="7" name="">
            <a:extLst xmlns:a="http://schemas.openxmlformats.org/drawingml/2006/main">
              <a:ext uri="{FF2B5EF4-FFF2-40B4-BE49-F238E27FC236}">
                <a16:creationId xmlns:a16="http://schemas.microsoft.com/office/drawing/2014/main" id="{B66AC57A-D3FE-43C7-803A-FDDEAC908FE3}"/>
              </a:ext>
            </a:extLst>
          </p:cNvPr>
          <p:cNvSpPr>
            <a:spLocks xmlns:a="http://schemas.openxmlformats.org/drawingml/2006/main" noGrp="1"/>
          </p:cNvSpPr>
          <p:nvPr/>
        </p:nvSpPr>
        <p:spPr>
          <a:xfrm xmlns:a="http://schemas.openxmlformats.org/drawingml/2006/main">
            <a:off x="609600" y="40290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Eski yanıt</a:t>
            </a:r>
          </a:p>
        </p:txBody>
      </p:sp>
      <p:sp>
        <p:nvSpPr>
          <p:cNvPr id="8" name="">
            <a:extLst xmlns:a="http://schemas.openxmlformats.org/drawingml/2006/main">
              <a:ext uri="{FF2B5EF4-FFF2-40B4-BE49-F238E27FC236}">
                <a16:creationId xmlns:a16="http://schemas.microsoft.com/office/drawing/2014/main" id="{1A9B8A2E-5DBD-4FA9-BA6B-0585FE15BAE0}"/>
              </a:ext>
            </a:extLst>
          </p:cNvPr>
          <p:cNvSpPr>
            <a:spLocks xmlns:a="http://schemas.openxmlformats.org/drawingml/2006/main" noGrp="1"/>
          </p:cNvSpPr>
          <p:nvPr/>
        </p:nvSpPr>
        <p:spPr>
          <a:xfrm xmlns:a="http://schemas.openxmlformats.org/drawingml/2006/main">
            <a:off x="3571875" y="402907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İstek ve durum sürümü kontrolü. Oyuncu durumu değiştiyse yanıtı eleme.</a:t>
            </a:r>
          </a:p>
        </p:txBody>
      </p:sp>
      <p:sp>
        <p:nvSpPr>
          <p:cNvPr id="9" name="">
            <a:extLst xmlns:a="http://schemas.openxmlformats.org/drawingml/2006/main">
              <a:ext uri="{FF2B5EF4-FFF2-40B4-BE49-F238E27FC236}">
                <a16:creationId xmlns:a16="http://schemas.microsoft.com/office/drawing/2014/main" id="{E60E0D62-A906-4DBE-B826-5F7E80F2E307}"/>
              </a:ext>
            </a:extLst>
          </p:cNvPr>
          <p:cNvSpPr>
            <a:spLocks xmlns:a="http://schemas.openxmlformats.org/drawingml/2006/main" noGrp="1"/>
          </p:cNvSpPr>
          <p:nvPr/>
        </p:nvSpPr>
        <p:spPr>
          <a:xfrm xmlns:a="http://schemas.openxmlformats.org/drawingml/2006/main">
            <a:off x="609600" y="503872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Yinelenen işlem</a:t>
            </a:r>
          </a:p>
        </p:txBody>
      </p:sp>
      <p:sp>
        <p:nvSpPr>
          <p:cNvPr id="10" name="">
            <a:extLst xmlns:a="http://schemas.openxmlformats.org/drawingml/2006/main">
              <a:ext uri="{FF2B5EF4-FFF2-40B4-BE49-F238E27FC236}">
                <a16:creationId xmlns:a16="http://schemas.microsoft.com/office/drawing/2014/main" id="{CC1DAB82-86BE-4F94-A050-9EC2048C23ED}"/>
              </a:ext>
            </a:extLst>
          </p:cNvPr>
          <p:cNvSpPr>
            <a:spLocks xmlns:a="http://schemas.openxmlformats.org/drawingml/2006/main" noGrp="1"/>
          </p:cNvSpPr>
          <p:nvPr/>
        </p:nvSpPr>
        <p:spPr>
          <a:xfrm xmlns:a="http://schemas.openxmlformats.org/drawingml/2006/main">
            <a:off x="3571875" y="503872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İşlem kimliği ile aynı ödülün veya görev güncellemesinin tekrarını engelleme.</a:t>
            </a:r>
          </a:p>
        </p:txBody>
      </p:sp>
    </p:spTree>
    <p:extLst>
      <p:ext uri="{BB962C8B-B14F-4D97-AF65-F5344CB8AC3E}">
        <p14:creationId xmlns:p14="http://schemas.microsoft.com/office/powerpoint/2010/main" val="739499814"/>
      </p:ext>
    </p:extLst>
  </p:cSld>
</p:sld>
</file>

<file path=ppt/slides/slide9.xml><?xml version="1.0" encoding="utf-8"?>
<p:sld xmlns:p="http://schemas.openxmlformats.org/presentationml/2006/main">
  <p:cSld>
    <p:bg>
      <p:bgPr>
        <a:solidFill xmlns:a="http://schemas.openxmlformats.org/drawingml/2006/main">
          <a:srgbClr val="101F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EC4B3D-6A6F-477B-A2D9-71EADEB3F883}"/>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Gecikme, token ve maliyet yönetimi</a:t>
            </a:r>
          </a:p>
        </p:txBody>
      </p:sp>
      <p:sp>
        <p:nvSpPr>
          <p:cNvPr id="2" name="">
            <a:extLst xmlns:a="http://schemas.openxmlformats.org/drawingml/2006/main">
              <a:ext uri="{FF2B5EF4-FFF2-40B4-BE49-F238E27FC236}">
                <a16:creationId xmlns:a16="http://schemas.microsoft.com/office/drawing/2014/main" id="{5DF85338-16E6-4082-90C3-F655B90A6D8C}"/>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BC5"/>
                </a:solidFill>
                <a:latin typeface="Aptos"/>
                <a:ea typeface="Aptos"/>
                <a:cs typeface="Aptos"/>
              </a:defRPr>
            </a:pPr>
            <a:r>
              <a:rPr sz="1350" b="0">
                <a:solidFill>
                  <a:srgbClr val="A7BBC5"/>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A3196ABA-DF6A-4674-8612-B2BA70289D27}"/>
              </a:ext>
            </a:extLst>
          </p:cNvPr>
          <p:cNvSpPr>
            <a:spLocks xmlns:a="http://schemas.openxmlformats.org/drawingml/2006/main" noGrp="1"/>
          </p:cNvSpPr>
          <p:nvPr/>
        </p:nvSpPr>
        <p:spPr>
          <a:xfrm xmlns:a="http://schemas.openxmlformats.org/drawingml/2006/main">
            <a:off x="609600" y="204787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BE0C8"/>
                </a:solidFill>
                <a:latin typeface="Aptos"/>
                <a:ea typeface="Aptos"/>
                <a:cs typeface="Aptos"/>
              </a:defRPr>
            </a:pPr>
            <a:r>
              <a:rPr sz="2325" b="1">
                <a:solidFill>
                  <a:srgbClr val="7BE0C8"/>
                </a:solidFill>
                <a:latin typeface="Aptos"/>
                <a:ea typeface="Aptos"/>
                <a:cs typeface="Aptos"/>
              </a:rPr>
              <a:t>İstek yönetimi</a:t>
            </a:r>
          </a:p>
        </p:txBody>
      </p:sp>
      <p:sp>
        <p:nvSpPr>
          <p:cNvPr id="4" name="">
            <a:extLst xmlns:a="http://schemas.openxmlformats.org/drawingml/2006/main">
              <a:ext uri="{FF2B5EF4-FFF2-40B4-BE49-F238E27FC236}">
                <a16:creationId xmlns:a16="http://schemas.microsoft.com/office/drawing/2014/main" id="{66FE9F40-6B86-47C4-BDF9-BAE7E2097EDC}"/>
              </a:ext>
            </a:extLst>
          </p:cNvPr>
          <p:cNvSpPr>
            <a:spLocks xmlns:a="http://schemas.openxmlformats.org/drawingml/2006/main" noGrp="1"/>
          </p:cNvSpPr>
          <p:nvPr/>
        </p:nvSpPr>
        <p:spPr>
          <a:xfrm xmlns:a="http://schemas.openxmlformats.org/drawingml/2006/main">
            <a:off x="609600" y="2943225"/>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Asenkron HTTP ile oyun döngüsünü sürdürme.</a:t>
            </a:r>
          </a:p>
          <a:p xmlns:a="http://schemas.openxmlformats.org/drawingml/2006/main">
            <a:r>
              <a:t/>
            </a:r>
          </a:p>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İstek kuyruğu ve hız sınırı.</a:t>
            </a:r>
          </a:p>
          <a:p xmlns:a="http://schemas.openxmlformats.org/drawingml/2006/main">
            <a:r>
              <a:t/>
            </a:r>
          </a:p>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Konuşma bitince isteği iptal etme.</a:t>
            </a:r>
          </a:p>
        </p:txBody>
      </p:sp>
      <p:sp>
        <p:nvSpPr>
          <p:cNvPr id="5" name="">
            <a:extLst xmlns:a="http://schemas.openxmlformats.org/drawingml/2006/main">
              <a:ext uri="{FF2B5EF4-FFF2-40B4-BE49-F238E27FC236}">
                <a16:creationId xmlns:a16="http://schemas.microsoft.com/office/drawing/2014/main" id="{8257558A-7360-46DF-AF4D-F236ED66A28B}"/>
              </a:ext>
            </a:extLst>
          </p:cNvPr>
          <p:cNvSpPr>
            <a:spLocks xmlns:a="http://schemas.openxmlformats.org/drawingml/2006/main" noGrp="1"/>
          </p:cNvSpPr>
          <p:nvPr/>
        </p:nvSpPr>
        <p:spPr>
          <a:xfrm xmlns:a="http://schemas.openxmlformats.org/drawingml/2006/main">
            <a:off x="6324600" y="204787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BE0C8"/>
                </a:solidFill>
                <a:latin typeface="Aptos"/>
                <a:ea typeface="Aptos"/>
                <a:cs typeface="Aptos"/>
              </a:defRPr>
            </a:pPr>
            <a:r>
              <a:rPr sz="2325" b="1">
                <a:solidFill>
                  <a:srgbClr val="7BE0C8"/>
                </a:solidFill>
                <a:latin typeface="Aptos"/>
                <a:ea typeface="Aptos"/>
                <a:cs typeface="Aptos"/>
              </a:rPr>
              <a:t>Bağlam bütçesi</a:t>
            </a:r>
          </a:p>
        </p:txBody>
      </p:sp>
      <p:sp>
        <p:nvSpPr>
          <p:cNvPr id="6" name="">
            <a:extLst xmlns:a="http://schemas.openxmlformats.org/drawingml/2006/main">
              <a:ext uri="{FF2B5EF4-FFF2-40B4-BE49-F238E27FC236}">
                <a16:creationId xmlns:a16="http://schemas.microsoft.com/office/drawing/2014/main" id="{E603DD09-AC7A-4010-AE3E-58B93B9EBB30}"/>
              </a:ext>
            </a:extLst>
          </p:cNvPr>
          <p:cNvSpPr>
            <a:spLocks xmlns:a="http://schemas.openxmlformats.org/drawingml/2006/main" noGrp="1"/>
          </p:cNvSpPr>
          <p:nvPr/>
        </p:nvSpPr>
        <p:spPr>
          <a:xfrm xmlns:a="http://schemas.openxmlformats.org/drawingml/2006/main">
            <a:off x="6324600" y="2943225"/>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Son konuşmalar ve önemli olay özeti.</a:t>
            </a:r>
          </a:p>
          <a:p xmlns:a="http://schemas.openxmlformats.org/drawingml/2006/main">
            <a:r>
              <a:t/>
            </a:r>
          </a:p>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Girdi ve çıktı için token üst sınırı.</a:t>
            </a:r>
          </a:p>
          <a:p xmlns:a="http://schemas.openxmlformats.org/drawingml/2006/main">
            <a:r>
              <a:t/>
            </a:r>
          </a:p>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NPC, bağlam ve durum sürümüne göre önbellek.</a:t>
            </a:r>
          </a:p>
        </p:txBody>
      </p:sp>
      <p:sp>
        <p:nvSpPr>
          <p:cNvPr id="7" name="">
            <a:extLst xmlns:a="http://schemas.openxmlformats.org/drawingml/2006/main">
              <a:ext uri="{FF2B5EF4-FFF2-40B4-BE49-F238E27FC236}">
                <a16:creationId xmlns:a16="http://schemas.microsoft.com/office/drawing/2014/main" id="{0B6D0B71-4F1B-4992-8FED-C01AABB7D15B}"/>
              </a:ext>
            </a:extLst>
          </p:cNvPr>
          <p:cNvSpPr>
            <a:spLocks xmlns:a="http://schemas.openxmlformats.org/drawingml/2006/main" noGrp="1"/>
          </p:cNvSpPr>
          <p:nvPr/>
        </p:nvSpPr>
        <p:spPr>
          <a:xfrm xmlns:a="http://schemas.openxmlformats.org/drawingml/2006/main">
            <a:off x="609600" y="58578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7BE0C8"/>
                </a:solidFill>
                <a:latin typeface="Aptos"/>
                <a:ea typeface="Aptos"/>
                <a:cs typeface="Aptos"/>
              </a:defRPr>
            </a:pPr>
            <a:r>
              <a:rPr sz="1950" b="0">
                <a:solidFill>
                  <a:srgbClr val="7BE0C8"/>
                </a:solidFill>
                <a:latin typeface="Aptos"/>
                <a:ea typeface="Aptos"/>
                <a:cs typeface="Aptos"/>
              </a:rPr>
              <a:t>Ölçüm: uçtan uca yanıt süresi, token tüketimi ve etkileşim başına maliyet.</a:t>
            </a:r>
          </a:p>
        </p:txBody>
      </p:sp>
    </p:spTree>
    <p:extLst>
      <p:ext uri="{BB962C8B-B14F-4D97-AF65-F5344CB8AC3E}">
        <p14:creationId xmlns:p14="http://schemas.microsoft.com/office/powerpoint/2010/main" val="1718109114"/>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46DADD-1031-4262-AE83-5C5451372A87}"/>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3B üretim ve Unity performansı</a:t>
            </a:r>
          </a:p>
        </p:txBody>
      </p:sp>
      <p:sp>
        <p:nvSpPr>
          <p:cNvPr id="2" name="">
            <a:extLst xmlns:a="http://schemas.openxmlformats.org/drawingml/2006/main">
              <a:ext uri="{FF2B5EF4-FFF2-40B4-BE49-F238E27FC236}">
                <a16:creationId xmlns:a16="http://schemas.microsoft.com/office/drawing/2014/main" id="{3E209E1F-6B2F-490F-8DA2-9A94A6D5AF7B}"/>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7B5AE2F6-6D58-4BD0-80BF-0ADEAAABFDE7}"/>
              </a:ext>
            </a:extLst>
          </p:cNvPr>
          <p:cNvSpPr>
            <a:spLocks xmlns:a="http://schemas.openxmlformats.org/drawingml/2006/main" noGrp="1"/>
          </p:cNvSpPr>
          <p:nvPr/>
        </p:nvSpPr>
        <p:spPr>
          <a:xfrm xmlns:a="http://schemas.openxmlformats.org/drawingml/2006/main">
            <a:off x="609600" y="1571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7D7A"/>
                </a:solidFill>
                <a:latin typeface="Aptos"/>
                <a:ea typeface="Aptos"/>
                <a:cs typeface="Aptos"/>
              </a:defRPr>
            </a:pPr>
            <a:r>
              <a:rPr sz="2175" b="0">
                <a:solidFill>
                  <a:srgbClr val="147D7A"/>
                </a:solidFill>
                <a:latin typeface="Aptos"/>
                <a:ea typeface="Aptos"/>
                <a:cs typeface="Aptos"/>
              </a:rPr>
              <a:t>Görsel varlıklar ile NPC davranış sistemi aynı prototipte birleşir.</a:t>
            </a:r>
          </a:p>
        </p:txBody>
      </p:sp>
      <p:sp>
        <p:nvSpPr>
          <p:cNvPr id="4" name="">
            <a:extLst xmlns:a="http://schemas.openxmlformats.org/drawingml/2006/main">
              <a:ext uri="{FF2B5EF4-FFF2-40B4-BE49-F238E27FC236}">
                <a16:creationId xmlns:a16="http://schemas.microsoft.com/office/drawing/2014/main" id="{EC3F5BB9-B620-4475-97D8-ED960638E0A3}"/>
              </a:ext>
            </a:extLst>
          </p:cNvPr>
          <p:cNvSpPr>
            <a:spLocks xmlns:a="http://schemas.openxmlformats.org/drawingml/2006/main" noGrp="1"/>
          </p:cNvSpPr>
          <p:nvPr/>
        </p:nvSpPr>
        <p:spPr>
          <a:xfrm xmlns:a="http://schemas.openxmlformats.org/drawingml/2006/main">
            <a:off x="609600" y="225742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Model üretimi</a:t>
            </a:r>
          </a:p>
        </p:txBody>
      </p:sp>
      <p:sp>
        <p:nvSpPr>
          <p:cNvPr id="5" name="">
            <a:extLst xmlns:a="http://schemas.openxmlformats.org/drawingml/2006/main">
              <a:ext uri="{FF2B5EF4-FFF2-40B4-BE49-F238E27FC236}">
                <a16:creationId xmlns:a16="http://schemas.microsoft.com/office/drawing/2014/main" id="{7C44262A-58B6-4E19-888C-1C97BF5297EC}"/>
              </a:ext>
            </a:extLst>
          </p:cNvPr>
          <p:cNvSpPr>
            <a:spLocks xmlns:a="http://schemas.openxmlformats.org/drawingml/2006/main" noGrp="1"/>
          </p:cNvSpPr>
          <p:nvPr/>
        </p:nvSpPr>
        <p:spPr>
          <a:xfrm xmlns:a="http://schemas.openxmlformats.org/drawingml/2006/main">
            <a:off x="3571875" y="225742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Meshy veya Tripo ile başlangıç modelleri.</a:t>
            </a:r>
          </a:p>
        </p:txBody>
      </p:sp>
      <p:sp>
        <p:nvSpPr>
          <p:cNvPr id="6" name="">
            <a:extLst xmlns:a="http://schemas.openxmlformats.org/drawingml/2006/main">
              <a:ext uri="{FF2B5EF4-FFF2-40B4-BE49-F238E27FC236}">
                <a16:creationId xmlns:a16="http://schemas.microsoft.com/office/drawing/2014/main" id="{2C8785EC-8816-4FA1-85B3-55A297718462}"/>
              </a:ext>
            </a:extLst>
          </p:cNvPr>
          <p:cNvSpPr>
            <a:spLocks xmlns:a="http://schemas.openxmlformats.org/drawingml/2006/main" noGrp="1"/>
          </p:cNvSpPr>
          <p:nvPr/>
        </p:nvSpPr>
        <p:spPr>
          <a:xfrm xmlns:a="http://schemas.openxmlformats.org/drawingml/2006/main">
            <a:off x="609600" y="314325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Blender hazırlığı</a:t>
            </a:r>
          </a:p>
        </p:txBody>
      </p:sp>
      <p:sp>
        <p:nvSpPr>
          <p:cNvPr id="7" name="">
            <a:extLst xmlns:a="http://schemas.openxmlformats.org/drawingml/2006/main">
              <a:ext uri="{FF2B5EF4-FFF2-40B4-BE49-F238E27FC236}">
                <a16:creationId xmlns:a16="http://schemas.microsoft.com/office/drawing/2014/main" id="{4D0EED43-DA1F-4D0D-9488-987781DEA20B}"/>
              </a:ext>
            </a:extLst>
          </p:cNvPr>
          <p:cNvSpPr>
            <a:spLocks xmlns:a="http://schemas.openxmlformats.org/drawingml/2006/main" noGrp="1"/>
          </p:cNvSpPr>
          <p:nvPr/>
        </p:nvSpPr>
        <p:spPr>
          <a:xfrm xmlns:a="http://schemas.openxmlformats.org/drawingml/2006/main">
            <a:off x="3571875" y="31432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Topoloji, malzeme, rig ve poligon yükünü oyun kullanımına uyarlama.</a:t>
            </a:r>
          </a:p>
        </p:txBody>
      </p:sp>
      <p:sp>
        <p:nvSpPr>
          <p:cNvPr id="8" name="">
            <a:extLst xmlns:a="http://schemas.openxmlformats.org/drawingml/2006/main">
              <a:ext uri="{FF2B5EF4-FFF2-40B4-BE49-F238E27FC236}">
                <a16:creationId xmlns:a16="http://schemas.microsoft.com/office/drawing/2014/main" id="{C6F6BFFA-2AC0-4B62-B9B5-910DC8278844}"/>
              </a:ext>
            </a:extLst>
          </p:cNvPr>
          <p:cNvSpPr>
            <a:spLocks xmlns:a="http://schemas.openxmlformats.org/drawingml/2006/main" noGrp="1"/>
          </p:cNvSpPr>
          <p:nvPr/>
        </p:nvSpPr>
        <p:spPr>
          <a:xfrm xmlns:a="http://schemas.openxmlformats.org/drawingml/2006/main">
            <a:off x="609600" y="40290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Unity URP</a:t>
            </a:r>
          </a:p>
        </p:txBody>
      </p:sp>
      <p:sp>
        <p:nvSpPr>
          <p:cNvPr id="9" name="">
            <a:extLst xmlns:a="http://schemas.openxmlformats.org/drawingml/2006/main">
              <a:ext uri="{FF2B5EF4-FFF2-40B4-BE49-F238E27FC236}">
                <a16:creationId xmlns:a16="http://schemas.microsoft.com/office/drawing/2014/main" id="{1E29D2BA-E473-441B-8B3B-6551AA3C3D82}"/>
              </a:ext>
            </a:extLst>
          </p:cNvPr>
          <p:cNvSpPr>
            <a:spLocks xmlns:a="http://schemas.openxmlformats.org/drawingml/2006/main" noGrp="1"/>
          </p:cNvSpPr>
          <p:nvPr/>
        </p:nvSpPr>
        <p:spPr>
          <a:xfrm xmlns:a="http://schemas.openxmlformats.org/drawingml/2006/main">
            <a:off x="3571875" y="4029075"/>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NPC modeli, animasyon ve beyin bileşenini aynı sahnede birleştirme.</a:t>
            </a:r>
          </a:p>
        </p:txBody>
      </p:sp>
      <p:sp>
        <p:nvSpPr>
          <p:cNvPr id="10" name="">
            <a:extLst xmlns:a="http://schemas.openxmlformats.org/drawingml/2006/main">
              <a:ext uri="{FF2B5EF4-FFF2-40B4-BE49-F238E27FC236}">
                <a16:creationId xmlns:a16="http://schemas.microsoft.com/office/drawing/2014/main" id="{5C8BAD1B-06D1-40B8-A0CF-043693CDE9F8}"/>
              </a:ext>
            </a:extLst>
          </p:cNvPr>
          <p:cNvSpPr>
            <a:spLocks xmlns:a="http://schemas.openxmlformats.org/drawingml/2006/main" noGrp="1"/>
          </p:cNvSpPr>
          <p:nvPr/>
        </p:nvSpPr>
        <p:spPr>
          <a:xfrm xmlns:a="http://schemas.openxmlformats.org/drawingml/2006/main">
            <a:off x="609600" y="491490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A"/>
                </a:solidFill>
                <a:latin typeface="Aptos"/>
                <a:ea typeface="Aptos"/>
                <a:cs typeface="Aptos"/>
              </a:defRPr>
            </a:pPr>
            <a:r>
              <a:rPr sz="2025" b="1">
                <a:solidFill>
                  <a:srgbClr val="147D7A"/>
                </a:solidFill>
                <a:latin typeface="Aptos"/>
                <a:ea typeface="Aptos"/>
                <a:cs typeface="Aptos"/>
              </a:rPr>
              <a:t>Performans deneyi</a:t>
            </a:r>
          </a:p>
        </p:txBody>
      </p:sp>
      <p:sp>
        <p:nvSpPr>
          <p:cNvPr id="11" name="">
            <a:extLst xmlns:a="http://schemas.openxmlformats.org/drawingml/2006/main">
              <a:ext uri="{FF2B5EF4-FFF2-40B4-BE49-F238E27FC236}">
                <a16:creationId xmlns:a16="http://schemas.microsoft.com/office/drawing/2014/main" id="{41061B66-9EF0-4612-8819-EB8C2FA62F9D}"/>
              </a:ext>
            </a:extLst>
          </p:cNvPr>
          <p:cNvSpPr>
            <a:spLocks xmlns:a="http://schemas.openxmlformats.org/drawingml/2006/main" noGrp="1"/>
          </p:cNvSpPr>
          <p:nvPr/>
        </p:nvSpPr>
        <p:spPr>
          <a:xfrm xmlns:a="http://schemas.openxmlformats.org/drawingml/2006/main">
            <a:off x="3571875" y="491490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2F3A"/>
                </a:solidFill>
                <a:latin typeface="Aptos"/>
                <a:ea typeface="Aptos"/>
                <a:cs typeface="Aptos"/>
              </a:defRPr>
            </a:pPr>
            <a:r>
              <a:rPr sz="1950" b="0">
                <a:solidFill>
                  <a:srgbClr val="162F3A"/>
                </a:solidFill>
                <a:latin typeface="Aptos"/>
                <a:ea typeface="Aptos"/>
                <a:cs typeface="Aptos"/>
              </a:rPr>
              <a:t>GPU instancing, MaterialPropertyBlock ve object pooling etkilerini ölçme.</a:t>
            </a:r>
          </a:p>
        </p:txBody>
      </p:sp>
    </p:spTree>
    <p:extLst>
      <p:ext uri="{BB962C8B-B14F-4D97-AF65-F5344CB8AC3E}">
        <p14:creationId xmlns:p14="http://schemas.microsoft.com/office/powerpoint/2010/main" val="1800288833"/>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460CA6-7F9F-4261-98C6-C8702FF582D8}"/>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Değerlendirme planı</a:t>
            </a:r>
          </a:p>
        </p:txBody>
      </p:sp>
      <p:sp>
        <p:nvSpPr>
          <p:cNvPr id="2" name="">
            <a:extLst xmlns:a="http://schemas.openxmlformats.org/drawingml/2006/main">
              <a:ext uri="{FF2B5EF4-FFF2-40B4-BE49-F238E27FC236}">
                <a16:creationId xmlns:a16="http://schemas.microsoft.com/office/drawing/2014/main" id="{B5B6217F-4949-4438-85FF-2F70D0759B56}"/>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15</a:t>
            </a:r>
          </a:p>
        </p:txBody>
      </p:sp>
      <p:graphicFrame>
        <p:nvGraphicFramePr>
          <p:cNvPr id="7" name=""/>
          <p:cNvGraphicFramePr/>
          <p:nvPr/>
        </p:nvGraphicFramePr>
        <p:xfrm>
          <a:off xmlns:a="http://schemas.openxmlformats.org/drawingml/2006/main" x="609600" y="1962150"/>
          <a:ext xmlns:a="http://schemas.openxmlformats.org/drawingml/2006/main" cx="10972800" cy="3714750"/>
        </p:xfrm>
        <a:graphic xmlns:a="http://schemas.openxmlformats.org/drawingml/2006/main">
          <a:graphicData uri="http://schemas.openxmlformats.org/drawingml/2006/table">
            <a:tbl>
              <a:tblPr/>
              <a:tblGrid>
                <a:gridCol w="2095500"/>
                <a:gridCol w="4476750"/>
                <a:gridCol w="4400550"/>
              </a:tblGrid>
              <a:tr h="552450">
                <a:tc>
                  <a:txBody>
                    <a:bodyPr/>
                    <a:lstStyle/>
                    <a:p>
                      <a:r>
                        <a:rPr sz="1725" b="1">
                          <a:solidFill>
                            <a:srgbClr val="FFFFFF"/>
                          </a:solidFill>
                          <a:latin typeface="Aptos"/>
                          <a:ea typeface="Aptos"/>
                          <a:cs typeface="Aptos"/>
                        </a:rPr>
                        <a:t>Boyut</a:t>
                      </a:r>
                    </a:p>
                  </a:txBody>
                  <a:tcPr marL="91440" marR="91440" marT="45720" marB="45720">
                    <a:solidFill>
                      <a:srgbClr val="162F3A"/>
                    </a:solidFill>
                  </a:tcPr>
                </a:tc>
                <a:tc>
                  <a:txBody>
                    <a:bodyPr/>
                    <a:lstStyle/>
                    <a:p>
                      <a:r>
                        <a:rPr sz="1725" b="1">
                          <a:solidFill>
                            <a:srgbClr val="FFFFFF"/>
                          </a:solidFill>
                          <a:latin typeface="Aptos"/>
                          <a:ea typeface="Aptos"/>
                          <a:cs typeface="Aptos"/>
                        </a:rPr>
                        <a:t>Ölçüm</a:t>
                      </a:r>
                    </a:p>
                  </a:txBody>
                  <a:tcPr marL="91440" marR="91440" marT="45720" marB="45720">
                    <a:solidFill>
                      <a:srgbClr val="162F3A"/>
                    </a:solidFill>
                  </a:tcPr>
                </a:tc>
                <a:tc>
                  <a:txBody>
                    <a:bodyPr/>
                    <a:lstStyle/>
                    <a:p>
                      <a:r>
                        <a:rPr sz="1725" b="1">
                          <a:solidFill>
                            <a:srgbClr val="FFFFFF"/>
                          </a:solidFill>
                          <a:latin typeface="Aptos"/>
                          <a:ea typeface="Aptos"/>
                          <a:cs typeface="Aptos"/>
                        </a:rPr>
                        <a:t>Deney koşulu</a:t>
                      </a:r>
                    </a:p>
                  </a:txBody>
                  <a:tcPr marL="91440" marR="91440" marT="45720" marB="45720">
                    <a:solidFill>
                      <a:srgbClr val="162F3A"/>
                    </a:solidFill>
                  </a:tcPr>
                </a:tc>
              </a:tr>
              <a:tr h="714375">
                <a:tc>
                  <a:txBody>
                    <a:bodyPr/>
                    <a:lstStyle/>
                    <a:p>
                      <a:r>
                        <a:rPr sz="1725" b="0">
                          <a:solidFill>
                            <a:srgbClr val="162F3A"/>
                          </a:solidFill>
                          <a:latin typeface="Aptos"/>
                          <a:ea typeface="Aptos"/>
                          <a:cs typeface="Aptos"/>
                        </a:rPr>
                        <a:t>Gecikme</a:t>
                      </a:r>
                    </a:p>
                  </a:txBody>
                  <a:tcPr marL="91440" marR="91440" marT="45720" marB="45720">
                    <a:solidFill>
                      <a:srgbClr val="FFFFFF"/>
                    </a:solidFill>
                  </a:tcPr>
                </a:tc>
                <a:tc>
                  <a:txBody>
                    <a:bodyPr/>
                    <a:lstStyle/>
                    <a:p>
                      <a:r>
                        <a:rPr sz="1725" b="0">
                          <a:solidFill>
                            <a:srgbClr val="162F3A"/>
                          </a:solidFill>
                          <a:latin typeface="Aptos"/>
                          <a:ea typeface="Aptos"/>
                          <a:cs typeface="Aptos"/>
                        </a:rPr>
                        <a:t>Medyan ve p95 yanıt süresi</a:t>
                      </a:r>
                    </a:p>
                  </a:txBody>
                  <a:tcPr marL="91440" marR="91440" marT="45720" marB="45720">
                    <a:solidFill>
                      <a:srgbClr val="FFFFFF"/>
                    </a:solidFill>
                  </a:tcPr>
                </a:tc>
                <a:tc>
                  <a:txBody>
                    <a:bodyPr/>
                    <a:lstStyle/>
                    <a:p>
                      <a:r>
                        <a:rPr sz="1725" b="0">
                          <a:solidFill>
                            <a:srgbClr val="162F3A"/>
                          </a:solidFill>
                          <a:latin typeface="Aptos"/>
                          <a:ea typeface="Aptos"/>
                          <a:cs typeface="Aptos"/>
                        </a:rPr>
                        <a:t>Önbellek açık / kapalı</a:t>
                      </a:r>
                    </a:p>
                  </a:txBody>
                  <a:tcPr marL="91440" marR="91440" marT="45720" marB="45720">
                    <a:solidFill>
                      <a:srgbClr val="FFFFFF"/>
                    </a:solidFill>
                  </a:tcPr>
                </a:tc>
              </a:tr>
              <a:tr h="714375">
                <a:tc>
                  <a:txBody>
                    <a:bodyPr/>
                    <a:lstStyle/>
                    <a:p>
                      <a:r>
                        <a:rPr sz="1725" b="0">
                          <a:solidFill>
                            <a:srgbClr val="162F3A"/>
                          </a:solidFill>
                          <a:latin typeface="Aptos"/>
                          <a:ea typeface="Aptos"/>
                          <a:cs typeface="Aptos"/>
                        </a:rPr>
                        <a:t>Güvenilirlik</a:t>
                      </a:r>
                    </a:p>
                  </a:txBody>
                  <a:tcPr marL="91440" marR="91440" marT="45720" marB="45720">
                    <a:solidFill>
                      <a:srgbClr val="EAF0ED"/>
                    </a:solidFill>
                  </a:tcPr>
                </a:tc>
                <a:tc>
                  <a:txBody>
                    <a:bodyPr/>
                    <a:lstStyle/>
                    <a:p>
                      <a:r>
                        <a:rPr sz="1725" b="0">
                          <a:solidFill>
                            <a:srgbClr val="162F3A"/>
                          </a:solidFill>
                          <a:latin typeface="Aptos"/>
                          <a:ea typeface="Aptos"/>
                          <a:cs typeface="Aptos"/>
                        </a:rPr>
                        <a:t>Geçersiz eylem ve yedek yanıt oranı</a:t>
                      </a:r>
                    </a:p>
                  </a:txBody>
                  <a:tcPr marL="91440" marR="91440" marT="45720" marB="45720">
                    <a:solidFill>
                      <a:srgbClr val="EAF0ED"/>
                    </a:solidFill>
                  </a:tcPr>
                </a:tc>
                <a:tc>
                  <a:txBody>
                    <a:bodyPr/>
                    <a:lstStyle/>
                    <a:p>
                      <a:r>
                        <a:rPr sz="1725" b="0">
                          <a:solidFill>
                            <a:srgbClr val="162F3A"/>
                          </a:solidFill>
                          <a:latin typeface="Aptos"/>
                          <a:ea typeface="Aptos"/>
                          <a:cs typeface="Aptos"/>
                        </a:rPr>
                        <a:t>Normal yanıt / hata enjeksiyonu</a:t>
                      </a:r>
                    </a:p>
                  </a:txBody>
                  <a:tcPr marL="91440" marR="91440" marT="45720" marB="45720">
                    <a:solidFill>
                      <a:srgbClr val="EAF0ED"/>
                    </a:solidFill>
                  </a:tcPr>
                </a:tc>
              </a:tr>
              <a:tr h="714375">
                <a:tc>
                  <a:txBody>
                    <a:bodyPr/>
                    <a:lstStyle/>
                    <a:p>
                      <a:r>
                        <a:rPr sz="1725" b="0">
                          <a:solidFill>
                            <a:srgbClr val="162F3A"/>
                          </a:solidFill>
                          <a:latin typeface="Aptos"/>
                          <a:ea typeface="Aptos"/>
                          <a:cs typeface="Aptos"/>
                        </a:rPr>
                        <a:t>Maliyet</a:t>
                      </a:r>
                    </a:p>
                  </a:txBody>
                  <a:tcPr marL="91440" marR="91440" marT="45720" marB="45720">
                    <a:solidFill>
                      <a:srgbClr val="FFFFFF"/>
                    </a:solidFill>
                  </a:tcPr>
                </a:tc>
                <a:tc>
                  <a:txBody>
                    <a:bodyPr/>
                    <a:lstStyle/>
                    <a:p>
                      <a:r>
                        <a:rPr sz="1725" b="0">
                          <a:solidFill>
                            <a:srgbClr val="162F3A"/>
                          </a:solidFill>
                          <a:latin typeface="Aptos"/>
                          <a:ea typeface="Aptos"/>
                          <a:cs typeface="Aptos"/>
                        </a:rPr>
                        <a:t>Token ve etkileşim başına maliyet</a:t>
                      </a:r>
                    </a:p>
                  </a:txBody>
                  <a:tcPr marL="91440" marR="91440" marT="45720" marB="45720">
                    <a:solidFill>
                      <a:srgbClr val="FFFFFF"/>
                    </a:solidFill>
                  </a:tcPr>
                </a:tc>
                <a:tc>
                  <a:txBody>
                    <a:bodyPr/>
                    <a:lstStyle/>
                    <a:p>
                      <a:r>
                        <a:rPr sz="1725" b="0">
                          <a:solidFill>
                            <a:srgbClr val="162F3A"/>
                          </a:solidFill>
                          <a:latin typeface="Aptos"/>
                          <a:ea typeface="Aptos"/>
                          <a:cs typeface="Aptos"/>
                        </a:rPr>
                        <a:t>Kısa / uzun bağlam</a:t>
                      </a:r>
                    </a:p>
                  </a:txBody>
                  <a:tcPr marL="91440" marR="91440" marT="45720" marB="45720">
                    <a:solidFill>
                      <a:srgbClr val="FFFFFF"/>
                    </a:solidFill>
                  </a:tcPr>
                </a:tc>
              </a:tr>
              <a:tr h="714375">
                <a:tc>
                  <a:txBody>
                    <a:bodyPr/>
                    <a:lstStyle/>
                    <a:p>
                      <a:r>
                        <a:rPr sz="1725" b="0">
                          <a:solidFill>
                            <a:srgbClr val="162F3A"/>
                          </a:solidFill>
                          <a:latin typeface="Aptos"/>
                          <a:ea typeface="Aptos"/>
                          <a:cs typeface="Aptos"/>
                        </a:rPr>
                        <a:t>Anlatı ve oyun</a:t>
                      </a:r>
                    </a:p>
                  </a:txBody>
                  <a:tcPr marL="91440" marR="91440" marT="45720" marB="45720">
                    <a:solidFill>
                      <a:srgbClr val="EAF0ED"/>
                    </a:solidFill>
                  </a:tcPr>
                </a:tc>
                <a:tc>
                  <a:txBody>
                    <a:bodyPr/>
                    <a:lstStyle/>
                    <a:p>
                      <a:r>
                        <a:rPr sz="1725" b="0">
                          <a:solidFill>
                            <a:srgbClr val="162F3A"/>
                          </a:solidFill>
                          <a:latin typeface="Aptos"/>
                          <a:ea typeface="Aptos"/>
                          <a:cs typeface="Aptos"/>
                        </a:rPr>
                        <a:t>Tutarlılık puanı ve kare süresi</a:t>
                      </a:r>
                    </a:p>
                  </a:txBody>
                  <a:tcPr marL="91440" marR="91440" marT="45720" marB="45720">
                    <a:solidFill>
                      <a:srgbClr val="EAF0ED"/>
                    </a:solidFill>
                  </a:tcPr>
                </a:tc>
                <a:tc>
                  <a:txBody>
                    <a:bodyPr/>
                    <a:lstStyle/>
                    <a:p>
                      <a:r>
                        <a:rPr sz="1725" b="0">
                          <a:solidFill>
                            <a:srgbClr val="162F3A"/>
                          </a:solidFill>
                          <a:latin typeface="Aptos"/>
                          <a:ea typeface="Aptos"/>
                          <a:cs typeface="Aptos"/>
                        </a:rPr>
                        <a:t>Aynı senaryo, tekrarlı koşular</a:t>
                      </a:r>
                    </a:p>
                  </a:txBody>
                  <a:tcPr marL="91440" marR="91440" marT="45720" marB="45720">
                    <a:solidFill>
                      <a:srgbClr val="EAF0ED"/>
                    </a:solidFill>
                  </a:tcPr>
                </a:tc>
              </a:tr>
            </a:tbl>
          </a:graphicData>
        </a:graphic>
      </p:graphicFrame>
      <p:sp>
        <p:nvSpPr>
          <p:cNvPr id="4" name="">
            <a:extLst xmlns:a="http://schemas.openxmlformats.org/drawingml/2006/main">
              <a:ext uri="{FF2B5EF4-FFF2-40B4-BE49-F238E27FC236}">
                <a16:creationId xmlns:a16="http://schemas.microsoft.com/office/drawing/2014/main" id="{9A7172D9-614B-4097-B61B-62CDCC845076}"/>
              </a:ext>
            </a:extLst>
          </p:cNvPr>
          <p:cNvSpPr>
            <a:spLocks xmlns:a="http://schemas.openxmlformats.org/drawingml/2006/main" noGrp="1"/>
          </p:cNvSpPr>
          <p:nvPr/>
        </p:nvSpPr>
        <p:spPr>
          <a:xfrm xmlns:a="http://schemas.openxmlformats.org/drawingml/2006/main">
            <a:off x="609600" y="5924550"/>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7D7A"/>
                </a:solidFill>
                <a:latin typeface="Aptos"/>
                <a:ea typeface="Aptos"/>
                <a:cs typeface="Aptos"/>
              </a:defRPr>
            </a:pPr>
            <a:r>
              <a:rPr sz="1800" b="0">
                <a:solidFill>
                  <a:srgbClr val="147D7A"/>
                </a:solidFill>
                <a:latin typeface="Aptos"/>
                <a:ea typeface="Aptos"/>
                <a:cs typeface="Aptos"/>
              </a:rPr>
              <a:t>Bu slayt ölçüm planını gösterir. Sayısal sonuçlar prototip deneyleriyle üretilecek.</a:t>
            </a:r>
          </a:p>
        </p:txBody>
      </p:sp>
    </p:spTree>
    <p:extLst>
      <p:ext uri="{BB962C8B-B14F-4D97-AF65-F5344CB8AC3E}">
        <p14:creationId xmlns:p14="http://schemas.microsoft.com/office/powerpoint/2010/main" val="1596005027"/>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3DEDE6-1D25-45BC-A06B-C259AAB09F43}"/>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Önerilen 16 haftalık çalışma planı</a:t>
            </a:r>
          </a:p>
        </p:txBody>
      </p:sp>
      <p:sp>
        <p:nvSpPr>
          <p:cNvPr id="2" name="">
            <a:extLst xmlns:a="http://schemas.openxmlformats.org/drawingml/2006/main">
              <a:ext uri="{FF2B5EF4-FFF2-40B4-BE49-F238E27FC236}">
                <a16:creationId xmlns:a16="http://schemas.microsoft.com/office/drawing/2014/main" id="{73C0C673-B0F9-4BD6-94C0-249C195BDDBC}"/>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18</a:t>
            </a:r>
          </a:p>
        </p:txBody>
      </p:sp>
      <p:graphicFrame>
        <p:nvGraphicFramePr>
          <p:cNvPr id="7" name=""/>
          <p:cNvGraphicFramePr/>
          <p:nvPr/>
        </p:nvGraphicFramePr>
        <p:xfrm>
          <a:off xmlns:a="http://schemas.openxmlformats.org/drawingml/2006/main" x="609600" y="1962150"/>
          <a:ext xmlns:a="http://schemas.openxmlformats.org/drawingml/2006/main" cx="10972800" cy="3714750"/>
        </p:xfrm>
        <a:graphic xmlns:a="http://schemas.openxmlformats.org/drawingml/2006/main">
          <a:graphicData uri="http://schemas.openxmlformats.org/drawingml/2006/table">
            <a:tbl>
              <a:tblPr/>
              <a:tblGrid>
                <a:gridCol w="2000250"/>
                <a:gridCol w="4352925"/>
                <a:gridCol w="4619625"/>
              </a:tblGrid>
              <a:tr h="552450">
                <a:tc>
                  <a:txBody>
                    <a:bodyPr/>
                    <a:lstStyle/>
                    <a:p>
                      <a:r>
                        <a:rPr sz="1725" b="1">
                          <a:solidFill>
                            <a:srgbClr val="FFFFFF"/>
                          </a:solidFill>
                          <a:latin typeface="Aptos"/>
                          <a:ea typeface="Aptos"/>
                          <a:cs typeface="Aptos"/>
                        </a:rPr>
                        <a:t>Dönem</a:t>
                      </a:r>
                    </a:p>
                  </a:txBody>
                  <a:tcPr marL="91440" marR="91440" marT="45720" marB="45720">
                    <a:solidFill>
                      <a:srgbClr val="162F3A"/>
                    </a:solidFill>
                  </a:tcPr>
                </a:tc>
                <a:tc>
                  <a:txBody>
                    <a:bodyPr/>
                    <a:lstStyle/>
                    <a:p>
                      <a:r>
                        <a:rPr sz="1725" b="1">
                          <a:solidFill>
                            <a:srgbClr val="FFFFFF"/>
                          </a:solidFill>
                          <a:latin typeface="Aptos"/>
                          <a:ea typeface="Aptos"/>
                          <a:cs typeface="Aptos"/>
                        </a:rPr>
                        <a:t>Çalışma</a:t>
                      </a:r>
                    </a:p>
                  </a:txBody>
                  <a:tcPr marL="91440" marR="91440" marT="45720" marB="45720">
                    <a:solidFill>
                      <a:srgbClr val="162F3A"/>
                    </a:solidFill>
                  </a:tcPr>
                </a:tc>
                <a:tc>
                  <a:txBody>
                    <a:bodyPr/>
                    <a:lstStyle/>
                    <a:p>
                      <a:r>
                        <a:rPr sz="1725" b="1">
                          <a:solidFill>
                            <a:srgbClr val="FFFFFF"/>
                          </a:solidFill>
                          <a:latin typeface="Aptos"/>
                          <a:ea typeface="Aptos"/>
                          <a:cs typeface="Aptos"/>
                        </a:rPr>
                        <a:t>Somut çıktı</a:t>
                      </a:r>
                    </a:p>
                  </a:txBody>
                  <a:tcPr marL="91440" marR="91440" marT="45720" marB="45720">
                    <a:solidFill>
                      <a:srgbClr val="162F3A"/>
                    </a:solidFill>
                  </a:tcPr>
                </a:tc>
              </a:tr>
              <a:tr h="714375">
                <a:tc>
                  <a:txBody>
                    <a:bodyPr/>
                    <a:lstStyle/>
                    <a:p>
                      <a:r>
                        <a:rPr sz="1725" b="0">
                          <a:solidFill>
                            <a:srgbClr val="162F3A"/>
                          </a:solidFill>
                          <a:latin typeface="Aptos"/>
                          <a:ea typeface="Aptos"/>
                          <a:cs typeface="Aptos"/>
                        </a:rPr>
                        <a:t>1–3. hafta</a:t>
                      </a:r>
                    </a:p>
                  </a:txBody>
                  <a:tcPr marL="91440" marR="91440" marT="45720" marB="45720">
                    <a:solidFill>
                      <a:srgbClr val="FFFFFF"/>
                    </a:solidFill>
                  </a:tcPr>
                </a:tc>
                <a:tc>
                  <a:txBody>
                    <a:bodyPr/>
                    <a:lstStyle/>
                    <a:p>
                      <a:r>
                        <a:rPr sz="1725" b="0">
                          <a:solidFill>
                            <a:srgbClr val="162F3A"/>
                          </a:solidFill>
                          <a:latin typeface="Aptos"/>
                          <a:ea typeface="Aptos"/>
                          <a:cs typeface="Aptos"/>
                        </a:rPr>
                        <a:t>Literatür, gereksinimler ve mimari</a:t>
                      </a:r>
                    </a:p>
                  </a:txBody>
                  <a:tcPr marL="91440" marR="91440" marT="45720" marB="45720">
                    <a:solidFill>
                      <a:srgbClr val="FFFFFF"/>
                    </a:solidFill>
                  </a:tcPr>
                </a:tc>
                <a:tc>
                  <a:txBody>
                    <a:bodyPr/>
                    <a:lstStyle/>
                    <a:p>
                      <a:r>
                        <a:rPr sz="1725" b="0">
                          <a:solidFill>
                            <a:srgbClr val="162F3A"/>
                          </a:solidFill>
                          <a:latin typeface="Aptos"/>
                          <a:ea typeface="Aptos"/>
                          <a:cs typeface="Aptos"/>
                        </a:rPr>
                        <a:t>Senaryo, olay modeli ve JSON sözleşmesi</a:t>
                      </a:r>
                    </a:p>
                  </a:txBody>
                  <a:tcPr marL="91440" marR="91440" marT="45720" marB="45720">
                    <a:solidFill>
                      <a:srgbClr val="FFFFFF"/>
                    </a:solidFill>
                  </a:tcPr>
                </a:tc>
              </a:tr>
              <a:tr h="714375">
                <a:tc>
                  <a:txBody>
                    <a:bodyPr/>
                    <a:lstStyle/>
                    <a:p>
                      <a:r>
                        <a:rPr sz="1725" b="0">
                          <a:solidFill>
                            <a:srgbClr val="162F3A"/>
                          </a:solidFill>
                          <a:latin typeface="Aptos"/>
                          <a:ea typeface="Aptos"/>
                          <a:cs typeface="Aptos"/>
                        </a:rPr>
                        <a:t>4–7. hafta</a:t>
                      </a:r>
                    </a:p>
                  </a:txBody>
                  <a:tcPr marL="91440" marR="91440" marT="45720" marB="45720">
                    <a:solidFill>
                      <a:srgbClr val="EAF0ED"/>
                    </a:solidFill>
                  </a:tcPr>
                </a:tc>
                <a:tc>
                  <a:txBody>
                    <a:bodyPr/>
                    <a:lstStyle/>
                    <a:p>
                      <a:r>
                        <a:rPr sz="1725" b="0">
                          <a:solidFill>
                            <a:srgbClr val="162F3A"/>
                          </a:solidFill>
                          <a:latin typeface="Aptos"/>
                          <a:ea typeface="Aptos"/>
                          <a:cs typeface="Aptos"/>
                        </a:rPr>
                        <a:t>Unity ve API entegrasyonu</a:t>
                      </a:r>
                    </a:p>
                  </a:txBody>
                  <a:tcPr marL="91440" marR="91440" marT="45720" marB="45720">
                    <a:solidFill>
                      <a:srgbClr val="EAF0ED"/>
                    </a:solidFill>
                  </a:tcPr>
                </a:tc>
                <a:tc>
                  <a:txBody>
                    <a:bodyPr/>
                    <a:lstStyle/>
                    <a:p>
                      <a:r>
                        <a:rPr sz="1725" b="0">
                          <a:solidFill>
                            <a:srgbClr val="162F3A"/>
                          </a:solidFill>
                          <a:latin typeface="Aptos"/>
                          <a:ea typeface="Aptos"/>
                          <a:cs typeface="Aptos"/>
                        </a:rPr>
                        <a:t>Konuşabilen ilk NPC</a:t>
                      </a:r>
                    </a:p>
                  </a:txBody>
                  <a:tcPr marL="91440" marR="91440" marT="45720" marB="45720">
                    <a:solidFill>
                      <a:srgbClr val="EAF0ED"/>
                    </a:solidFill>
                  </a:tcPr>
                </a:tc>
              </a:tr>
              <a:tr h="714375">
                <a:tc>
                  <a:txBody>
                    <a:bodyPr/>
                    <a:lstStyle/>
                    <a:p>
                      <a:r>
                        <a:rPr sz="1725" b="0">
                          <a:solidFill>
                            <a:srgbClr val="162F3A"/>
                          </a:solidFill>
                          <a:latin typeface="Aptos"/>
                          <a:ea typeface="Aptos"/>
                          <a:cs typeface="Aptos"/>
                        </a:rPr>
                        <a:t>8–11. hafta</a:t>
                      </a:r>
                    </a:p>
                  </a:txBody>
                  <a:tcPr marL="91440" marR="91440" marT="45720" marB="45720">
                    <a:solidFill>
                      <a:srgbClr val="FFFFFF"/>
                    </a:solidFill>
                  </a:tcPr>
                </a:tc>
                <a:tc>
                  <a:txBody>
                    <a:bodyPr/>
                    <a:lstStyle/>
                    <a:p>
                      <a:r>
                        <a:rPr sz="1725" b="0">
                          <a:solidFill>
                            <a:srgbClr val="162F3A"/>
                          </a:solidFill>
                          <a:latin typeface="Aptos"/>
                          <a:ea typeface="Aptos"/>
                          <a:cs typeface="Aptos"/>
                        </a:rPr>
                        <a:t>Hafıza, görev ve hata yönetimi</a:t>
                      </a:r>
                    </a:p>
                  </a:txBody>
                  <a:tcPr marL="91440" marR="91440" marT="45720" marB="45720">
                    <a:solidFill>
                      <a:srgbClr val="FFFFFF"/>
                    </a:solidFill>
                  </a:tcPr>
                </a:tc>
                <a:tc>
                  <a:txBody>
                    <a:bodyPr/>
                    <a:lstStyle/>
                    <a:p>
                      <a:r>
                        <a:rPr sz="1725" b="0">
                          <a:solidFill>
                            <a:srgbClr val="162F3A"/>
                          </a:solidFill>
                          <a:latin typeface="Aptos"/>
                          <a:ea typeface="Aptos"/>
                          <a:cs typeface="Aptos"/>
                        </a:rPr>
                        <a:t>Dinamik görevli prototip</a:t>
                      </a:r>
                    </a:p>
                  </a:txBody>
                  <a:tcPr marL="91440" marR="91440" marT="45720" marB="45720">
                    <a:solidFill>
                      <a:srgbClr val="FFFFFF"/>
                    </a:solidFill>
                  </a:tcPr>
                </a:tc>
              </a:tr>
              <a:tr h="714375">
                <a:tc>
                  <a:txBody>
                    <a:bodyPr/>
                    <a:lstStyle/>
                    <a:p>
                      <a:r>
                        <a:rPr sz="1725" b="0">
                          <a:solidFill>
                            <a:srgbClr val="162F3A"/>
                          </a:solidFill>
                          <a:latin typeface="Aptos"/>
                          <a:ea typeface="Aptos"/>
                          <a:cs typeface="Aptos"/>
                        </a:rPr>
                        <a:t>12–16. hafta</a:t>
                      </a:r>
                    </a:p>
                  </a:txBody>
                  <a:tcPr marL="91440" marR="91440" marT="45720" marB="45720">
                    <a:solidFill>
                      <a:srgbClr val="EAF0ED"/>
                    </a:solidFill>
                  </a:tcPr>
                </a:tc>
                <a:tc>
                  <a:txBody>
                    <a:bodyPr/>
                    <a:lstStyle/>
                    <a:p>
                      <a:r>
                        <a:rPr sz="1725" b="0">
                          <a:solidFill>
                            <a:srgbClr val="162F3A"/>
                          </a:solidFill>
                          <a:latin typeface="Aptos"/>
                          <a:ea typeface="Aptos"/>
                          <a:cs typeface="Aptos"/>
                        </a:rPr>
                        <a:t>Görsel entegrasyon ve deneyler</a:t>
                      </a:r>
                    </a:p>
                  </a:txBody>
                  <a:tcPr marL="91440" marR="91440" marT="45720" marB="45720">
                    <a:solidFill>
                      <a:srgbClr val="EAF0ED"/>
                    </a:solidFill>
                  </a:tcPr>
                </a:tc>
                <a:tc>
                  <a:txBody>
                    <a:bodyPr/>
                    <a:lstStyle/>
                    <a:p>
                      <a:r>
                        <a:rPr sz="1725" b="0">
                          <a:solidFill>
                            <a:srgbClr val="162F3A"/>
                          </a:solidFill>
                          <a:latin typeface="Aptos"/>
                          <a:ea typeface="Aptos"/>
                          <a:cs typeface="Aptos"/>
                        </a:rPr>
                        <a:t>Bulgular, performans analizi ve teknik rapor</a:t>
                      </a:r>
                    </a:p>
                  </a:txBody>
                  <a:tcPr marL="91440" marR="91440" marT="45720" marB="45720">
                    <a:solidFill>
                      <a:srgbClr val="EAF0ED"/>
                    </a:solidFill>
                  </a:tcPr>
                </a:tc>
              </a:tr>
            </a:tbl>
          </a:graphicData>
        </a:graphic>
      </p:graphicFrame>
      <p:sp>
        <p:nvSpPr>
          <p:cNvPr id="4" name="">
            <a:extLst xmlns:a="http://schemas.openxmlformats.org/drawingml/2006/main">
              <a:ext uri="{FF2B5EF4-FFF2-40B4-BE49-F238E27FC236}">
                <a16:creationId xmlns:a16="http://schemas.microsoft.com/office/drawing/2014/main" id="{8C0ADC9B-1FF2-4D5A-9546-CDD1C12901A1}"/>
              </a:ext>
            </a:extLst>
          </p:cNvPr>
          <p:cNvSpPr>
            <a:spLocks xmlns:a="http://schemas.openxmlformats.org/drawingml/2006/main" noGrp="1"/>
          </p:cNvSpPr>
          <p:nvPr/>
        </p:nvSpPr>
        <p:spPr>
          <a:xfrm xmlns:a="http://schemas.openxmlformats.org/drawingml/2006/main">
            <a:off x="609600" y="5924550"/>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7D7A"/>
                </a:solidFill>
                <a:latin typeface="Aptos"/>
                <a:ea typeface="Aptos"/>
                <a:cs typeface="Aptos"/>
              </a:defRPr>
            </a:pPr>
            <a:r>
              <a:rPr sz="1800" b="0">
                <a:solidFill>
                  <a:srgbClr val="147D7A"/>
                </a:solidFill>
                <a:latin typeface="Aptos"/>
                <a:ea typeface="Aptos"/>
                <a:cs typeface="Aptos"/>
              </a:rPr>
              <a:t>Takvim bir planlama önerisidir. Süreler ekip ve proje koşullarına göre netleşecek.</a:t>
            </a:r>
          </a:p>
        </p:txBody>
      </p:sp>
    </p:spTree>
    <p:extLst>
      <p:ext uri="{BB962C8B-B14F-4D97-AF65-F5344CB8AC3E}">
        <p14:creationId xmlns:p14="http://schemas.microsoft.com/office/powerpoint/2010/main" val="751242800"/>
      </p:ext>
    </p:extLst>
  </p:cSld>
</p:sld>
</file>

<file path=ppt/slides/slide1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7E17FA-F9B5-4043-9DF8-07CC5E1B6424}"/>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2F3A"/>
                </a:solidFill>
                <a:latin typeface="Aptos"/>
                <a:ea typeface="Aptos"/>
                <a:cs typeface="Aptos"/>
              </a:defRPr>
            </a:pPr>
            <a:r>
              <a:rPr sz="3300" b="1">
                <a:solidFill>
                  <a:srgbClr val="162F3A"/>
                </a:solidFill>
                <a:latin typeface="Aptos"/>
                <a:ea typeface="Aptos"/>
                <a:cs typeface="Aptos"/>
              </a:rPr>
              <a:t>Özgün katkı ve ürünleşme yönü</a:t>
            </a:r>
          </a:p>
        </p:txBody>
      </p:sp>
      <p:sp>
        <p:nvSpPr>
          <p:cNvPr id="2" name="">
            <a:extLst xmlns:a="http://schemas.openxmlformats.org/drawingml/2006/main">
              <a:ext uri="{FF2B5EF4-FFF2-40B4-BE49-F238E27FC236}">
                <a16:creationId xmlns:a16="http://schemas.microsoft.com/office/drawing/2014/main" id="{731B5807-A80D-4A5B-9C2D-90A5DAB469EA}"/>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1"/>
                </a:solidFill>
                <a:latin typeface="Aptos"/>
                <a:ea typeface="Aptos"/>
                <a:cs typeface="Aptos"/>
              </a:defRPr>
            </a:pPr>
            <a:r>
              <a:rPr sz="1350" b="0">
                <a:solidFill>
                  <a:srgbClr val="546771"/>
                </a:solidFill>
                <a:latin typeface="Aptos"/>
                <a:ea typeface="Aptos"/>
                <a:cs typeface="Aptos"/>
              </a:rPr>
              <a:t>19</a:t>
            </a:r>
          </a:p>
        </p:txBody>
      </p:sp>
      <p:sp>
        <p:nvSpPr>
          <p:cNvPr id="3" name="">
            <a:extLst xmlns:a="http://schemas.openxmlformats.org/drawingml/2006/main">
              <a:ext uri="{FF2B5EF4-FFF2-40B4-BE49-F238E27FC236}">
                <a16:creationId xmlns:a16="http://schemas.microsoft.com/office/drawing/2014/main" id="{FADDFB04-A392-4A52-9248-5287234D2D2D}"/>
              </a:ext>
            </a:extLst>
          </p:cNvPr>
          <p:cNvSpPr>
            <a:spLocks xmlns:a="http://schemas.openxmlformats.org/drawingml/2006/main" noGrp="1"/>
          </p:cNvSpPr>
          <p:nvPr/>
        </p:nvSpPr>
        <p:spPr>
          <a:xfrm xmlns:a="http://schemas.openxmlformats.org/drawingml/2006/main">
            <a:off x="609600" y="191452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D7A"/>
                </a:solidFill>
                <a:latin typeface="Aptos"/>
                <a:ea typeface="Aptos"/>
                <a:cs typeface="Aptos"/>
              </a:defRPr>
            </a:pPr>
            <a:r>
              <a:rPr sz="2325" b="1">
                <a:solidFill>
                  <a:srgbClr val="147D7A"/>
                </a:solidFill>
                <a:latin typeface="Aptos"/>
                <a:ea typeface="Aptos"/>
                <a:cs typeface="Aptos"/>
              </a:rPr>
              <a:t>Mühendislik katkısı</a:t>
            </a:r>
          </a:p>
        </p:txBody>
      </p:sp>
      <p:sp>
        <p:nvSpPr>
          <p:cNvPr id="4" name="">
            <a:extLst xmlns:a="http://schemas.openxmlformats.org/drawingml/2006/main">
              <a:ext uri="{FF2B5EF4-FFF2-40B4-BE49-F238E27FC236}">
                <a16:creationId xmlns:a16="http://schemas.microsoft.com/office/drawing/2014/main" id="{8FFEA6DD-A212-46EB-85C8-B07C82DE5DE3}"/>
              </a:ext>
            </a:extLst>
          </p:cNvPr>
          <p:cNvSpPr>
            <a:spLocks xmlns:a="http://schemas.openxmlformats.org/drawingml/2006/main" noGrp="1"/>
          </p:cNvSpPr>
          <p:nvPr/>
        </p:nvSpPr>
        <p:spPr>
          <a:xfrm xmlns:a="http://schemas.openxmlformats.org/drawingml/2006/main">
            <a:off x="609600" y="2809875"/>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Oyuncu geçmişini kullanan anlatı üretimi.</a:t>
            </a:r>
          </a:p>
          <a:p xmlns:a="http://schemas.openxmlformats.org/drawingml/2006/main">
            <a:r>
              <a:t/>
            </a:r>
          </a:p>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Doğrulanmış yanıtların görev ve oyun eylemine dönüşmesi.</a:t>
            </a:r>
          </a:p>
          <a:p xmlns:a="http://schemas.openxmlformats.org/drawingml/2006/main">
            <a:r>
              <a:t/>
            </a:r>
          </a:p>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Gecikme ve maliyetin birlikte değerlendirilmesi.</a:t>
            </a:r>
          </a:p>
        </p:txBody>
      </p:sp>
      <p:sp>
        <p:nvSpPr>
          <p:cNvPr id="5" name="">
            <a:extLst xmlns:a="http://schemas.openxmlformats.org/drawingml/2006/main">
              <a:ext uri="{FF2B5EF4-FFF2-40B4-BE49-F238E27FC236}">
                <a16:creationId xmlns:a16="http://schemas.microsoft.com/office/drawing/2014/main" id="{62448ECA-7EC0-4B74-9083-CEA3B48209C3}"/>
              </a:ext>
            </a:extLst>
          </p:cNvPr>
          <p:cNvSpPr>
            <a:spLocks xmlns:a="http://schemas.openxmlformats.org/drawingml/2006/main" noGrp="1"/>
          </p:cNvSpPr>
          <p:nvPr/>
        </p:nvSpPr>
        <p:spPr>
          <a:xfrm xmlns:a="http://schemas.openxmlformats.org/drawingml/2006/main">
            <a:off x="6324600" y="191452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D7A"/>
                </a:solidFill>
                <a:latin typeface="Aptos"/>
                <a:ea typeface="Aptos"/>
                <a:cs typeface="Aptos"/>
              </a:defRPr>
            </a:pPr>
            <a:r>
              <a:rPr sz="2325" b="1">
                <a:solidFill>
                  <a:srgbClr val="147D7A"/>
                </a:solidFill>
                <a:latin typeface="Aptos"/>
                <a:ea typeface="Aptos"/>
                <a:cs typeface="Aptos"/>
              </a:rPr>
              <a:t>Ürünleşme olasılığı</a:t>
            </a:r>
          </a:p>
        </p:txBody>
      </p:sp>
      <p:sp>
        <p:nvSpPr>
          <p:cNvPr id="6" name="">
            <a:extLst xmlns:a="http://schemas.openxmlformats.org/drawingml/2006/main">
              <a:ext uri="{FF2B5EF4-FFF2-40B4-BE49-F238E27FC236}">
                <a16:creationId xmlns:a16="http://schemas.microsoft.com/office/drawing/2014/main" id="{FFB7F728-8777-4C47-8026-758E56A6D517}"/>
              </a:ext>
            </a:extLst>
          </p:cNvPr>
          <p:cNvSpPr>
            <a:spLocks xmlns:a="http://schemas.openxmlformats.org/drawingml/2006/main" noGrp="1"/>
          </p:cNvSpPr>
          <p:nvPr/>
        </p:nvSpPr>
        <p:spPr>
          <a:xfrm xmlns:a="http://schemas.openxmlformats.org/drawingml/2006/main">
            <a:off x="6324600" y="2809875"/>
            <a:ext cx="52578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Tekrar kullanılabilir Unity bileşenleri.</a:t>
            </a:r>
          </a:p>
          <a:p xmlns:a="http://schemas.openxmlformats.org/drawingml/2006/main">
            <a:r>
              <a:t/>
            </a:r>
          </a:p>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Farklı LLM sağlayıcılarına uyarlanabilir API katmanı.</a:t>
            </a:r>
          </a:p>
          <a:p xmlns:a="http://schemas.openxmlformats.org/drawingml/2006/main">
            <a:r>
              <a:t/>
            </a:r>
          </a:p>
          <a:p xmlns:a="http://schemas.openxmlformats.org/drawingml/2006/main">
            <a:pPr>
              <a:defRPr sz="2025" b="0">
                <a:solidFill>
                  <a:srgbClr val="162F3A"/>
                </a:solidFill>
                <a:latin typeface="Aptos"/>
                <a:ea typeface="Aptos"/>
                <a:cs typeface="Aptos"/>
              </a:defRPr>
            </a:pPr>
            <a:r>
              <a:rPr sz="2025" b="0">
                <a:solidFill>
                  <a:srgbClr val="162F3A"/>
                </a:solidFill>
                <a:latin typeface="Aptos"/>
                <a:ea typeface="Aptos"/>
                <a:cs typeface="Aptos"/>
              </a:rPr>
              <a:t>Belgelenmiş örnek sahne ile Asset Store paketi hedefi.</a:t>
            </a:r>
          </a:p>
        </p:txBody>
      </p:sp>
      <p:sp>
        <p:nvSpPr>
          <p:cNvPr id="7" name="">
            <a:extLst xmlns:a="http://schemas.openxmlformats.org/drawingml/2006/main">
              <a:ext uri="{FF2B5EF4-FFF2-40B4-BE49-F238E27FC236}">
                <a16:creationId xmlns:a16="http://schemas.microsoft.com/office/drawing/2014/main" id="{6E40AA0D-AB74-4082-9B51-BBCB32EBD531}"/>
              </a:ext>
            </a:extLst>
          </p:cNvPr>
          <p:cNvSpPr>
            <a:spLocks xmlns:a="http://schemas.openxmlformats.org/drawingml/2006/main" noGrp="1"/>
          </p:cNvSpPr>
          <p:nvPr/>
        </p:nvSpPr>
        <p:spPr>
          <a:xfrm xmlns:a="http://schemas.openxmlformats.org/drawingml/2006/main">
            <a:off x="609600" y="59626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7D7A"/>
                </a:solidFill>
                <a:latin typeface="Aptos"/>
                <a:ea typeface="Aptos"/>
                <a:cs typeface="Aptos"/>
              </a:defRPr>
            </a:pPr>
            <a:r>
              <a:rPr sz="1875" b="0">
                <a:solidFill>
                  <a:srgbClr val="147D7A"/>
                </a:solidFill>
                <a:latin typeface="Aptos"/>
                <a:ea typeface="Aptos"/>
                <a:cs typeface="Aptos"/>
              </a:rPr>
              <a:t>Konum, literatür karşılaştırmasına dayanır (slayt 05). İlk olma iddiası yoktur.</a:t>
            </a:r>
          </a:p>
        </p:txBody>
      </p:sp>
    </p:spTree>
    <p:extLst>
      <p:ext uri="{BB962C8B-B14F-4D97-AF65-F5344CB8AC3E}">
        <p14:creationId xmlns:p14="http://schemas.microsoft.com/office/powerpoint/2010/main" val="412116694"/>
      </p:ext>
    </p:extLst>
  </p:cSld>
</p:sld>
</file>

<file path=ppt/slides/slide14.xml><?xml version="1.0" encoding="utf-8"?>
<p:sld xmlns:p="http://schemas.openxmlformats.org/presentationml/2006/main">
  <p:cSld>
    <p:bg>
      <p:bgPr>
        <a:solidFill xmlns:a="http://schemas.openxmlformats.org/drawingml/2006/main">
          <a:srgbClr val="101F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593951-7446-4987-AF58-BF93C76388F7}"/>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Beklenen çıktılar</a:t>
            </a:r>
          </a:p>
        </p:txBody>
      </p:sp>
      <p:sp>
        <p:nvSpPr>
          <p:cNvPr id="2" name="">
            <a:extLst xmlns:a="http://schemas.openxmlformats.org/drawingml/2006/main">
              <a:ext uri="{FF2B5EF4-FFF2-40B4-BE49-F238E27FC236}">
                <a16:creationId xmlns:a16="http://schemas.microsoft.com/office/drawing/2014/main" id="{A76FF164-549B-48CC-9C68-ADDA94E8BF55}"/>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BC5"/>
                </a:solidFill>
                <a:latin typeface="Aptos"/>
                <a:ea typeface="Aptos"/>
                <a:cs typeface="Aptos"/>
              </a:defRPr>
            </a:pPr>
            <a:r>
              <a:rPr sz="1350" b="0">
                <a:solidFill>
                  <a:srgbClr val="A7BBC5"/>
                </a:solidFill>
                <a:latin typeface="Aptos"/>
                <a:ea typeface="Aptos"/>
                <a:cs typeface="Aptos"/>
              </a:rPr>
              <a:t>20</a:t>
            </a:r>
          </a:p>
        </p:txBody>
      </p:sp>
      <p:sp>
        <p:nvSpPr>
          <p:cNvPr id="3" name="">
            <a:extLst xmlns:a="http://schemas.openxmlformats.org/drawingml/2006/main">
              <a:ext uri="{FF2B5EF4-FFF2-40B4-BE49-F238E27FC236}">
                <a16:creationId xmlns:a16="http://schemas.microsoft.com/office/drawing/2014/main" id="{6327BE89-D0F1-49E7-98F1-642DB8AB116D}"/>
              </a:ext>
            </a:extLst>
          </p:cNvPr>
          <p:cNvSpPr>
            <a:spLocks xmlns:a="http://schemas.openxmlformats.org/drawingml/2006/main" noGrp="1"/>
          </p:cNvSpPr>
          <p:nvPr/>
        </p:nvSpPr>
        <p:spPr>
          <a:xfrm xmlns:a="http://schemas.openxmlformats.org/drawingml/2006/main">
            <a:off x="609600" y="176212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Oyuncunun geçmişine tepki veren,</a:t>
            </a:r>
          </a:p>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kuralları doğrulayan bir NPC prototipi</a:t>
            </a:r>
          </a:p>
        </p:txBody>
      </p:sp>
      <p:sp>
        <p:nvSpPr>
          <p:cNvPr id="4" name="">
            <a:extLst xmlns:a="http://schemas.openxmlformats.org/drawingml/2006/main">
              <a:ext uri="{FF2B5EF4-FFF2-40B4-BE49-F238E27FC236}">
                <a16:creationId xmlns:a16="http://schemas.microsoft.com/office/drawing/2014/main" id="{85422072-A31D-4A7F-B183-845CA32E7544}"/>
              </a:ext>
            </a:extLst>
          </p:cNvPr>
          <p:cNvSpPr>
            <a:spLocks xmlns:a="http://schemas.openxmlformats.org/drawingml/2006/main" noGrp="1"/>
          </p:cNvSpPr>
          <p:nvPr/>
        </p:nvSpPr>
        <p:spPr>
          <a:xfrm xmlns:a="http://schemas.openxmlformats.org/drawingml/2006/main">
            <a:off x="609600" y="378142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BE0C8"/>
                </a:solidFill>
                <a:latin typeface="Aptos"/>
                <a:ea typeface="Aptos"/>
                <a:cs typeface="Aptos"/>
              </a:defRPr>
            </a:pPr>
            <a:r>
              <a:rPr sz="2325" b="1">
                <a:solidFill>
                  <a:srgbClr val="7BE0C8"/>
                </a:solidFill>
                <a:latin typeface="Aptos"/>
                <a:ea typeface="Aptos"/>
                <a:cs typeface="Aptos"/>
              </a:rPr>
              <a:t>Çalışan sistem</a:t>
            </a:r>
          </a:p>
        </p:txBody>
      </p:sp>
      <p:sp>
        <p:nvSpPr>
          <p:cNvPr id="5" name="">
            <a:extLst xmlns:a="http://schemas.openxmlformats.org/drawingml/2006/main">
              <a:ext uri="{FF2B5EF4-FFF2-40B4-BE49-F238E27FC236}">
                <a16:creationId xmlns:a16="http://schemas.microsoft.com/office/drawing/2014/main" id="{3436DB7D-53AF-4AC0-A4B4-3473508AA179}"/>
              </a:ext>
            </a:extLst>
          </p:cNvPr>
          <p:cNvSpPr>
            <a:spLocks xmlns:a="http://schemas.openxmlformats.org/drawingml/2006/main" noGrp="1"/>
          </p:cNvSpPr>
          <p:nvPr/>
        </p:nvSpPr>
        <p:spPr>
          <a:xfrm xmlns:a="http://schemas.openxmlformats.org/drawingml/2006/main">
            <a:off x="609600" y="4676775"/>
            <a:ext cx="52578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Unity prototipi ve API entegrasyonu.</a:t>
            </a:r>
          </a:p>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Dinamik diyalog ve görev senaryosu.</a:t>
            </a:r>
          </a:p>
        </p:txBody>
      </p:sp>
      <p:sp>
        <p:nvSpPr>
          <p:cNvPr id="6" name="">
            <a:extLst xmlns:a="http://schemas.openxmlformats.org/drawingml/2006/main">
              <a:ext uri="{FF2B5EF4-FFF2-40B4-BE49-F238E27FC236}">
                <a16:creationId xmlns:a16="http://schemas.microsoft.com/office/drawing/2014/main" id="{111D47CE-222C-4359-84A2-EEC6EEC53C70}"/>
              </a:ext>
            </a:extLst>
          </p:cNvPr>
          <p:cNvSpPr>
            <a:spLocks xmlns:a="http://schemas.openxmlformats.org/drawingml/2006/main" noGrp="1"/>
          </p:cNvSpPr>
          <p:nvPr/>
        </p:nvSpPr>
        <p:spPr>
          <a:xfrm xmlns:a="http://schemas.openxmlformats.org/drawingml/2006/main">
            <a:off x="6324600" y="3781425"/>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7BE0C8"/>
                </a:solidFill>
                <a:latin typeface="Aptos"/>
                <a:ea typeface="Aptos"/>
                <a:cs typeface="Aptos"/>
              </a:defRPr>
            </a:pPr>
            <a:r>
              <a:rPr sz="2325" b="1">
                <a:solidFill>
                  <a:srgbClr val="7BE0C8"/>
                </a:solidFill>
                <a:latin typeface="Aptos"/>
                <a:ea typeface="Aptos"/>
                <a:cs typeface="Aptos"/>
              </a:rPr>
              <a:t>Teknik kanıt</a:t>
            </a:r>
          </a:p>
        </p:txBody>
      </p:sp>
      <p:sp>
        <p:nvSpPr>
          <p:cNvPr id="7" name="">
            <a:extLst xmlns:a="http://schemas.openxmlformats.org/drawingml/2006/main">
              <a:ext uri="{FF2B5EF4-FFF2-40B4-BE49-F238E27FC236}">
                <a16:creationId xmlns:a16="http://schemas.microsoft.com/office/drawing/2014/main" id="{A8B22FBE-3D7C-4BC1-8F86-E8AA27246138}"/>
              </a:ext>
            </a:extLst>
          </p:cNvPr>
          <p:cNvSpPr>
            <a:spLocks xmlns:a="http://schemas.openxmlformats.org/drawingml/2006/main" noGrp="1"/>
          </p:cNvSpPr>
          <p:nvPr/>
        </p:nvSpPr>
        <p:spPr>
          <a:xfrm xmlns:a="http://schemas.openxmlformats.org/drawingml/2006/main">
            <a:off x="6324600" y="4676775"/>
            <a:ext cx="52578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Asenkron istek ve önbellek altyapısı.</a:t>
            </a:r>
          </a:p>
          <a:p xmlns:a="http://schemas.openxmlformats.org/drawingml/2006/main">
            <a:pPr>
              <a:defRPr sz="2025" b="0">
                <a:solidFill>
                  <a:srgbClr val="E2EAED"/>
                </a:solidFill>
                <a:latin typeface="Aptos"/>
                <a:ea typeface="Aptos"/>
                <a:cs typeface="Aptos"/>
              </a:defRPr>
            </a:pPr>
            <a:r>
              <a:rPr sz="2025" b="0">
                <a:solidFill>
                  <a:srgbClr val="E2EAED"/>
                </a:solidFill>
                <a:latin typeface="Aptos"/>
                <a:ea typeface="Aptos"/>
                <a:cs typeface="Aptos"/>
              </a:rPr>
              <a:t>Performans ölçümleri ve teknik rapor.</a:t>
            </a:r>
          </a:p>
        </p:txBody>
      </p:sp>
    </p:spTree>
    <p:extLst>
      <p:ext uri="{BB962C8B-B14F-4D97-AF65-F5344CB8AC3E}">
        <p14:creationId xmlns:p14="http://schemas.microsoft.com/office/powerpoint/2010/main" val="1583600595"/>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162F3A"/>
                </a:solidFill>
                <a:latin typeface="Aptos"/>
                <a:ea typeface="Aptos"/>
                <a:cs typeface="Aptos"/>
              </a:rPr>
              <a:t>Literatür taraması</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546771"/>
                </a:solidFill>
                <a:latin typeface="Aptos"/>
                <a:ea typeface="Aptos"/>
                <a:cs typeface="Aptos"/>
              </a:rPr>
              <a:t>04</a:t>
            </a:r>
          </a:p>
        </p:txBody>
      </p:sp>
      <p:sp>
        <p:nvSpPr>
          <p:cNvPr id="4" name="TextBox 3"/>
          <p:cNvSpPr txBox="1"/>
          <p:nvPr/>
        </p:nvSpPr>
        <p:spPr>
          <a:xfrm>
            <a:off x="609630" y="1371600"/>
            <a:ext cx="10762488" cy="548640"/>
          </a:xfrm>
          <a:prstGeom prst="rect">
            <a:avLst/>
          </a:prstGeom>
          <a:noFill/>
        </p:spPr>
        <p:txBody>
          <a:bodyPr wrap="square">
            <a:noAutofit/>
          </a:bodyPr>
          <a:lstStyle/>
          <a:p>
            <a:r>
              <a:rPr sz="2000" b="0" i="0">
                <a:solidFill>
                  <a:srgbClr val="147D7A"/>
                </a:solidFill>
                <a:latin typeface="Aptos"/>
                <a:ea typeface="Aptos"/>
                <a:cs typeface="Aptos"/>
              </a:rPr>
              <a:t>Proje, dört araştırma hattının kesişiminde yer alıyor (genel derleme: Gallotta vd., 2024).</a:t>
            </a:r>
          </a:p>
        </p:txBody>
      </p:sp>
      <p:sp>
        <p:nvSpPr>
          <p:cNvPr id="5" name="TextBox 4"/>
          <p:cNvSpPr txBox="1"/>
          <p:nvPr/>
        </p:nvSpPr>
        <p:spPr>
          <a:xfrm>
            <a:off x="609630" y="2103120"/>
            <a:ext cx="2834640" cy="640080"/>
          </a:xfrm>
          <a:prstGeom prst="rect">
            <a:avLst/>
          </a:prstGeom>
          <a:noFill/>
        </p:spPr>
        <p:txBody>
          <a:bodyPr wrap="square">
            <a:noAutofit/>
          </a:bodyPr>
          <a:lstStyle/>
          <a:p>
            <a:r>
              <a:rPr sz="1950" b="1" i="0">
                <a:solidFill>
                  <a:srgbClr val="147D7A"/>
                </a:solidFill>
                <a:latin typeface="Aptos"/>
                <a:ea typeface="Aptos"/>
                <a:cs typeface="Aptos"/>
              </a:rPr>
              <a:t>Etkileşimli anlatı</a:t>
            </a:r>
          </a:p>
        </p:txBody>
      </p:sp>
      <p:sp>
        <p:nvSpPr>
          <p:cNvPr id="6" name="TextBox 5"/>
          <p:cNvSpPr txBox="1"/>
          <p:nvPr/>
        </p:nvSpPr>
        <p:spPr>
          <a:xfrm>
            <a:off x="3571920" y="2103120"/>
            <a:ext cx="7955279" cy="914400"/>
          </a:xfrm>
          <a:prstGeom prst="rect">
            <a:avLst/>
          </a:prstGeom>
          <a:noFill/>
        </p:spPr>
        <p:txBody>
          <a:bodyPr wrap="square">
            <a:noAutofit/>
          </a:bodyPr>
          <a:lstStyle/>
          <a:p>
            <a:pPr>
              <a:spcAft>
                <a:spcPts val="300"/>
              </a:spcAft>
            </a:pPr>
            <a:r>
              <a:rPr sz="1650" b="0" i="0">
                <a:solidFill>
                  <a:srgbClr val="162F3A"/>
                </a:solidFill>
                <a:latin typeface="Aptos"/>
                <a:ea typeface="Aptos"/>
                <a:cs typeface="Aptos"/>
              </a:rPr>
              <a:t>Oyuncu eylemine göre değişen anlatı ve kurallı görev yapıları (Mateas ve Stern, 2005; Doran ve Parberry, 2011; Riedl ve Bulitko, 2013).</a:t>
            </a:r>
          </a:p>
          <a:p>
            <a:r>
              <a:rPr sz="1500" b="1" i="0">
                <a:solidFill>
                  <a:srgbClr val="147D7A"/>
                </a:solidFill>
                <a:latin typeface="Aptos"/>
                <a:ea typeface="Aptos"/>
                <a:cs typeface="Aptos"/>
              </a:rPr>
              <a:t>Projede: görev şablonları ve izinli eylem listesi</a:t>
            </a:r>
          </a:p>
        </p:txBody>
      </p:sp>
      <p:sp>
        <p:nvSpPr>
          <p:cNvPr id="7" name="TextBox 6"/>
          <p:cNvSpPr txBox="1"/>
          <p:nvPr/>
        </p:nvSpPr>
        <p:spPr>
          <a:xfrm>
            <a:off x="609630" y="3054096"/>
            <a:ext cx="2834640" cy="640080"/>
          </a:xfrm>
          <a:prstGeom prst="rect">
            <a:avLst/>
          </a:prstGeom>
          <a:noFill/>
        </p:spPr>
        <p:txBody>
          <a:bodyPr wrap="square">
            <a:noAutofit/>
          </a:bodyPr>
          <a:lstStyle/>
          <a:p>
            <a:r>
              <a:rPr sz="1950" b="1" i="0">
                <a:solidFill>
                  <a:srgbClr val="147D7A"/>
                </a:solidFill>
                <a:latin typeface="Aptos"/>
                <a:ea typeface="Aptos"/>
                <a:cs typeface="Aptos"/>
              </a:rPr>
              <a:t>LLM ajanları ve hafıza</a:t>
            </a:r>
          </a:p>
        </p:txBody>
      </p:sp>
      <p:sp>
        <p:nvSpPr>
          <p:cNvPr id="8" name="TextBox 7"/>
          <p:cNvSpPr txBox="1"/>
          <p:nvPr/>
        </p:nvSpPr>
        <p:spPr>
          <a:xfrm>
            <a:off x="3571920" y="3054096"/>
            <a:ext cx="7955279" cy="914400"/>
          </a:xfrm>
          <a:prstGeom prst="rect">
            <a:avLst/>
          </a:prstGeom>
          <a:noFill/>
        </p:spPr>
        <p:txBody>
          <a:bodyPr wrap="square">
            <a:noAutofit/>
          </a:bodyPr>
          <a:lstStyle/>
          <a:p>
            <a:pPr>
              <a:spcAft>
                <a:spcPts val="300"/>
              </a:spcAft>
            </a:pPr>
            <a:r>
              <a:rPr sz="1650" b="0" i="0">
                <a:solidFill>
                  <a:srgbClr val="162F3A"/>
                </a:solidFill>
                <a:latin typeface="Aptos"/>
                <a:ea typeface="Aptos"/>
                <a:cs typeface="Aptos"/>
              </a:rPr>
              <a:t>Hafıza akışı ve yansıtma (Park vd., 2023), katmanlı bağlam yönetimi (Packer vd., 2023), yürütme geri bildirimiyle eylem düzeltme (Wang vd., 2024).</a:t>
            </a:r>
          </a:p>
          <a:p>
            <a:r>
              <a:rPr sz="1500" b="1" i="0">
                <a:solidFill>
                  <a:srgbClr val="147D7A"/>
                </a:solidFill>
                <a:latin typeface="Aptos"/>
                <a:ea typeface="Aptos"/>
                <a:cs typeface="Aptos"/>
              </a:rPr>
              <a:t>Projede: NPC beyninin hafıza ve karar katmanları</a:t>
            </a:r>
          </a:p>
        </p:txBody>
      </p:sp>
      <p:sp>
        <p:nvSpPr>
          <p:cNvPr id="9" name="TextBox 8"/>
          <p:cNvSpPr txBox="1"/>
          <p:nvPr/>
        </p:nvSpPr>
        <p:spPr>
          <a:xfrm>
            <a:off x="609630" y="4005072"/>
            <a:ext cx="2834640" cy="640080"/>
          </a:xfrm>
          <a:prstGeom prst="rect">
            <a:avLst/>
          </a:prstGeom>
          <a:noFill/>
        </p:spPr>
        <p:txBody>
          <a:bodyPr wrap="square">
            <a:noAutofit/>
          </a:bodyPr>
          <a:lstStyle/>
          <a:p>
            <a:r>
              <a:rPr sz="1950" b="1" i="0">
                <a:solidFill>
                  <a:srgbClr val="147D7A"/>
                </a:solidFill>
                <a:latin typeface="Aptos"/>
                <a:ea typeface="Aptos"/>
                <a:cs typeface="Aptos"/>
              </a:rPr>
              <a:t>LLM ile görev ve diyalog</a:t>
            </a:r>
          </a:p>
        </p:txBody>
      </p:sp>
      <p:sp>
        <p:nvSpPr>
          <p:cNvPr id="10" name="TextBox 9"/>
          <p:cNvSpPr txBox="1"/>
          <p:nvPr/>
        </p:nvSpPr>
        <p:spPr>
          <a:xfrm>
            <a:off x="3571920" y="4005072"/>
            <a:ext cx="7955279" cy="914400"/>
          </a:xfrm>
          <a:prstGeom prst="rect">
            <a:avLst/>
          </a:prstGeom>
          <a:noFill/>
        </p:spPr>
        <p:txBody>
          <a:bodyPr wrap="square">
            <a:noAutofit/>
          </a:bodyPr>
          <a:lstStyle/>
          <a:p>
            <a:pPr>
              <a:spcAft>
                <a:spcPts val="300"/>
              </a:spcAft>
            </a:pPr>
            <a:r>
              <a:rPr sz="1650" b="0" i="0">
                <a:solidFill>
                  <a:srgbClr val="162F3A"/>
                </a:solidFill>
                <a:latin typeface="Aptos"/>
                <a:ea typeface="Aptos"/>
                <a:cs typeface="Aptos"/>
              </a:rPr>
              <a:t>Görev metni ve kişiselleştirilmiş diyalog üretimi (Ashby vd., 2023; Värtinen vd., 2024); oyun motoru içinde gecikme ölçümü (Maslych vd., 2025; McGrath vd., 2025).</a:t>
            </a:r>
          </a:p>
          <a:p>
            <a:r>
              <a:rPr sz="1500" b="1" i="0">
                <a:solidFill>
                  <a:srgbClr val="147D7A"/>
                </a:solidFill>
                <a:latin typeface="Aptos"/>
                <a:ea typeface="Aptos"/>
                <a:cs typeface="Aptos"/>
              </a:rPr>
              <a:t>Projede: oyuncu bağlamına göre görev önerisi ve gecikme hedefi</a:t>
            </a:r>
          </a:p>
        </p:txBody>
      </p:sp>
      <p:sp>
        <p:nvSpPr>
          <p:cNvPr id="11" name="TextBox 10"/>
          <p:cNvSpPr txBox="1"/>
          <p:nvPr/>
        </p:nvSpPr>
        <p:spPr>
          <a:xfrm>
            <a:off x="609630" y="4956048"/>
            <a:ext cx="2834640" cy="640080"/>
          </a:xfrm>
          <a:prstGeom prst="rect">
            <a:avLst/>
          </a:prstGeom>
          <a:noFill/>
        </p:spPr>
        <p:txBody>
          <a:bodyPr wrap="square">
            <a:noAutofit/>
          </a:bodyPr>
          <a:lstStyle/>
          <a:p>
            <a:r>
              <a:rPr sz="1950" b="1" i="0">
                <a:solidFill>
                  <a:srgbClr val="147D7A"/>
                </a:solidFill>
                <a:latin typeface="Aptos"/>
                <a:ea typeface="Aptos"/>
                <a:cs typeface="Aptos"/>
              </a:rPr>
              <a:t>Güvenilirlik ve maliyet</a:t>
            </a:r>
          </a:p>
        </p:txBody>
      </p:sp>
      <p:sp>
        <p:nvSpPr>
          <p:cNvPr id="12" name="TextBox 11"/>
          <p:cNvSpPr txBox="1"/>
          <p:nvPr/>
        </p:nvSpPr>
        <p:spPr>
          <a:xfrm>
            <a:off x="3571920" y="4956048"/>
            <a:ext cx="7955279" cy="914400"/>
          </a:xfrm>
          <a:prstGeom prst="rect">
            <a:avLst/>
          </a:prstGeom>
          <a:noFill/>
        </p:spPr>
        <p:txBody>
          <a:bodyPr wrap="square">
            <a:noAutofit/>
          </a:bodyPr>
          <a:lstStyle/>
          <a:p>
            <a:pPr>
              <a:spcAft>
                <a:spcPts val="300"/>
              </a:spcAft>
            </a:pPr>
            <a:r>
              <a:rPr sz="1650" b="0" i="0">
                <a:solidFill>
                  <a:srgbClr val="162F3A"/>
                </a:solidFill>
                <a:latin typeface="Aptos"/>
                <a:ea typeface="Aptos"/>
                <a:cs typeface="Aptos"/>
              </a:rPr>
              <a:t>Halüsinasyon riski (Ji vd., 2023), gramerle sınırlı üretim (Willard ve Louf, 2023), önbellek ve kademeli model ile maliyet azaltma (Chen vd., 2024).</a:t>
            </a:r>
          </a:p>
          <a:p>
            <a:r>
              <a:rPr sz="1500" b="1" i="0">
                <a:solidFill>
                  <a:srgbClr val="147D7A"/>
                </a:solidFill>
                <a:latin typeface="Aptos"/>
                <a:ea typeface="Aptos"/>
                <a:cs typeface="Aptos"/>
              </a:rPr>
              <a:t>Projede: JSON sözleşmesi, doğrulama ve önbellek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2B"/>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FFFFFF"/>
                </a:solidFill>
                <a:latin typeface="Aptos"/>
                <a:ea typeface="Aptos"/>
                <a:cs typeface="Aptos"/>
              </a:rPr>
              <a:t>Benzer sistemler ve projenin konumu</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A7BBC5"/>
                </a:solidFill>
                <a:latin typeface="Aptos"/>
                <a:ea typeface="Aptos"/>
                <a:cs typeface="Aptos"/>
              </a:rPr>
              <a:t>05</a:t>
            </a:r>
          </a:p>
        </p:txBody>
      </p:sp>
      <p:sp>
        <p:nvSpPr>
          <p:cNvPr id="4" name="TextBox 3"/>
          <p:cNvSpPr txBox="1"/>
          <p:nvPr/>
        </p:nvSpPr>
        <p:spPr>
          <a:xfrm>
            <a:off x="609630" y="1600200"/>
            <a:ext cx="3429000" cy="548640"/>
          </a:xfrm>
          <a:prstGeom prst="rect">
            <a:avLst/>
          </a:prstGeom>
          <a:noFill/>
        </p:spPr>
        <p:txBody>
          <a:bodyPr wrap="square">
            <a:noAutofit/>
          </a:bodyPr>
          <a:lstStyle/>
          <a:p>
            <a:r>
              <a:rPr sz="2100" b="1" i="0">
                <a:solidFill>
                  <a:srgbClr val="7BE0C8"/>
                </a:solidFill>
                <a:latin typeface="Aptos"/>
                <a:ea typeface="Aptos"/>
                <a:cs typeface="Aptos"/>
              </a:rPr>
              <a:t>Akademik çalışmalar</a:t>
            </a:r>
          </a:p>
        </p:txBody>
      </p:sp>
      <p:sp>
        <p:nvSpPr>
          <p:cNvPr id="5" name="TextBox 4"/>
          <p:cNvSpPr txBox="1"/>
          <p:nvPr/>
        </p:nvSpPr>
        <p:spPr>
          <a:xfrm>
            <a:off x="609630" y="2240280"/>
            <a:ext cx="3429000" cy="3383280"/>
          </a:xfrm>
          <a:prstGeom prst="rect">
            <a:avLst/>
          </a:prstGeom>
          <a:noFill/>
        </p:spPr>
        <p:txBody>
          <a:bodyPr wrap="square">
            <a:noAutofit/>
          </a:bodyPr>
          <a:lstStyle/>
          <a:p>
            <a:pPr>
              <a:spcAft>
                <a:spcPts val="1200"/>
              </a:spcAft>
            </a:pPr>
            <a:r>
              <a:rPr sz="1650" b="0" i="0">
                <a:solidFill>
                  <a:srgbClr val="E2EAED"/>
                </a:solidFill>
                <a:latin typeface="Aptos"/>
                <a:ea typeface="Aptos"/>
                <a:cs typeface="Aptos"/>
              </a:rPr>
              <a:t>Ajan davranışı ve görev metni çoğunlukla insan puanlamasıyla değerlendirilmiş.</a:t>
            </a:r>
          </a:p>
          <a:p>
            <a:pPr>
              <a:spcAft>
                <a:spcPts val="1200"/>
              </a:spcAft>
            </a:pPr>
            <a:r>
              <a:rPr sz="1650" b="0" i="0">
                <a:solidFill>
                  <a:srgbClr val="E2EAED"/>
                </a:solidFill>
                <a:latin typeface="Aptos"/>
                <a:ea typeface="Aptos"/>
                <a:cs typeface="Aptos"/>
              </a:rPr>
              <a:t>SceneCraft Unity sahnesi üretir; tasarım anında çalışır ve yalnız sözdizimini denetler.</a:t>
            </a:r>
          </a:p>
          <a:p>
            <a:r>
              <a:rPr sz="1650" b="0" i="0">
                <a:solidFill>
                  <a:srgbClr val="E2EAED"/>
                </a:solidFill>
                <a:latin typeface="Aptos"/>
                <a:ea typeface="Aptos"/>
                <a:cs typeface="Aptos"/>
              </a:rPr>
              <a:t>Motor içi çalışmalarda 4 s üzeri gecikme deneyimi düşürüyor.</a:t>
            </a:r>
          </a:p>
        </p:txBody>
      </p:sp>
      <p:sp>
        <p:nvSpPr>
          <p:cNvPr id="6" name="TextBox 5"/>
          <p:cNvSpPr txBox="1"/>
          <p:nvPr/>
        </p:nvSpPr>
        <p:spPr>
          <a:xfrm>
            <a:off x="4267230" y="1600200"/>
            <a:ext cx="3429000" cy="548640"/>
          </a:xfrm>
          <a:prstGeom prst="rect">
            <a:avLst/>
          </a:prstGeom>
          <a:noFill/>
        </p:spPr>
        <p:txBody>
          <a:bodyPr wrap="square">
            <a:noAutofit/>
          </a:bodyPr>
          <a:lstStyle/>
          <a:p>
            <a:r>
              <a:rPr sz="2100" b="1" i="0">
                <a:solidFill>
                  <a:srgbClr val="7BE0C8"/>
                </a:solidFill>
                <a:latin typeface="Aptos"/>
                <a:ea typeface="Aptos"/>
                <a:cs typeface="Aptos"/>
              </a:rPr>
              <a:t>Benzer ürünler</a:t>
            </a:r>
          </a:p>
        </p:txBody>
      </p:sp>
      <p:sp>
        <p:nvSpPr>
          <p:cNvPr id="7" name="TextBox 6"/>
          <p:cNvSpPr txBox="1"/>
          <p:nvPr/>
        </p:nvSpPr>
        <p:spPr>
          <a:xfrm>
            <a:off x="4267230" y="2240280"/>
            <a:ext cx="3429000" cy="3383280"/>
          </a:xfrm>
          <a:prstGeom prst="rect">
            <a:avLst/>
          </a:prstGeom>
          <a:noFill/>
        </p:spPr>
        <p:txBody>
          <a:bodyPr wrap="square">
            <a:noAutofit/>
          </a:bodyPr>
          <a:lstStyle/>
          <a:p>
            <a:pPr>
              <a:spcAft>
                <a:spcPts val="1200"/>
              </a:spcAft>
            </a:pPr>
            <a:r>
              <a:rPr sz="1650" b="0" i="0">
                <a:solidFill>
                  <a:srgbClr val="E2EAED"/>
                </a:solidFill>
                <a:latin typeface="Aptos"/>
                <a:ea typeface="Aptos"/>
                <a:cs typeface="Aptos"/>
              </a:rPr>
              <a:t>Convai: Unity ve Unreal eklentisi; LLM, oyuncu niyetini kayıtlı eylemlere eşler.</a:t>
            </a:r>
          </a:p>
          <a:p>
            <a:pPr>
              <a:spcAft>
                <a:spcPts val="1200"/>
              </a:spcAft>
            </a:pPr>
            <a:r>
              <a:rPr sz="1650" b="0" i="0">
                <a:solidFill>
                  <a:srgbClr val="E2EAED"/>
                </a:solidFill>
                <a:latin typeface="Aptos"/>
                <a:ea typeface="Aptos"/>
                <a:cs typeface="Aptos"/>
              </a:rPr>
              <a:t>LLM for Unity: yerel model, gramerle sınırlı çıktı ve fonksiyon çağrısı.</a:t>
            </a:r>
          </a:p>
          <a:p>
            <a:r>
              <a:rPr sz="1650" b="0" i="0">
                <a:solidFill>
                  <a:srgbClr val="E2EAED"/>
                </a:solidFill>
                <a:latin typeface="Aptos"/>
                <a:ea typeface="Aptos"/>
                <a:cs typeface="Aptos"/>
              </a:rPr>
              <a:t>Inworld AI ve NVIDIA ACE: konuşan karakterler için ses ve dil modeli altyapısı.</a:t>
            </a:r>
          </a:p>
        </p:txBody>
      </p:sp>
      <p:sp>
        <p:nvSpPr>
          <p:cNvPr id="8" name="TextBox 7"/>
          <p:cNvSpPr txBox="1"/>
          <p:nvPr/>
        </p:nvSpPr>
        <p:spPr>
          <a:xfrm>
            <a:off x="7924830" y="1600200"/>
            <a:ext cx="3429000" cy="548640"/>
          </a:xfrm>
          <a:prstGeom prst="rect">
            <a:avLst/>
          </a:prstGeom>
          <a:noFill/>
        </p:spPr>
        <p:txBody>
          <a:bodyPr wrap="square">
            <a:noAutofit/>
          </a:bodyPr>
          <a:lstStyle/>
          <a:p>
            <a:r>
              <a:rPr sz="2100" b="1" i="0">
                <a:solidFill>
                  <a:srgbClr val="7BE0C8"/>
                </a:solidFill>
                <a:latin typeface="Aptos"/>
                <a:ea typeface="Aptos"/>
                <a:cs typeface="Aptos"/>
              </a:rPr>
              <a:t>Bu projenin konumu</a:t>
            </a:r>
          </a:p>
        </p:txBody>
      </p:sp>
      <p:sp>
        <p:nvSpPr>
          <p:cNvPr id="9" name="TextBox 8"/>
          <p:cNvSpPr txBox="1"/>
          <p:nvPr/>
        </p:nvSpPr>
        <p:spPr>
          <a:xfrm>
            <a:off x="7924830" y="2240280"/>
            <a:ext cx="3429000" cy="3383280"/>
          </a:xfrm>
          <a:prstGeom prst="rect">
            <a:avLst/>
          </a:prstGeom>
          <a:noFill/>
        </p:spPr>
        <p:txBody>
          <a:bodyPr wrap="square">
            <a:noAutofit/>
          </a:bodyPr>
          <a:lstStyle/>
          <a:p>
            <a:pPr>
              <a:spcAft>
                <a:spcPts val="1200"/>
              </a:spcAft>
            </a:pPr>
            <a:r>
              <a:rPr sz="1650" b="0" i="0">
                <a:solidFill>
                  <a:srgbClr val="E2EAED"/>
                </a:solidFill>
                <a:latin typeface="Aptos"/>
                <a:ea typeface="Aptos"/>
                <a:cs typeface="Aptos"/>
              </a:rPr>
              <a:t>Görev ve dünya durumuna göre ön koşul denetleyen açık bir kural katmanı.</a:t>
            </a:r>
          </a:p>
          <a:p>
            <a:pPr>
              <a:spcAft>
                <a:spcPts val="1200"/>
              </a:spcAft>
            </a:pPr>
            <a:r>
              <a:rPr sz="1650" b="0" i="0">
                <a:solidFill>
                  <a:srgbClr val="E2EAED"/>
                </a:solidFill>
                <a:latin typeface="Aptos"/>
                <a:ea typeface="Aptos"/>
                <a:cs typeface="Aptos"/>
              </a:rPr>
              <a:t>Hata durumunda yedek diyalog; oyun durumu değişmez.</a:t>
            </a:r>
          </a:p>
          <a:p>
            <a:r>
              <a:rPr sz="1650" b="0" i="0">
                <a:solidFill>
                  <a:srgbClr val="E2EAED"/>
                </a:solidFill>
                <a:latin typeface="Aptos"/>
                <a:ea typeface="Aptos"/>
                <a:cs typeface="Aptos"/>
              </a:rPr>
              <a:t>Geçersiz eylem, p95 gecikme, token maliyeti ve kare süresi birlikte raporlanır.</a:t>
            </a:r>
          </a:p>
        </p:txBody>
      </p:sp>
      <p:sp>
        <p:nvSpPr>
          <p:cNvPr id="10" name="TextBox 9"/>
          <p:cNvSpPr txBox="1"/>
          <p:nvPr/>
        </p:nvSpPr>
        <p:spPr>
          <a:xfrm>
            <a:off x="609630" y="5760720"/>
            <a:ext cx="10607040" cy="457200"/>
          </a:xfrm>
          <a:prstGeom prst="rect">
            <a:avLst/>
          </a:prstGeom>
          <a:noFill/>
        </p:spPr>
        <p:txBody>
          <a:bodyPr wrap="square">
            <a:noAutofit/>
          </a:bodyPr>
          <a:lstStyle/>
          <a:p>
            <a:r>
              <a:rPr sz="1700" b="0" i="0">
                <a:solidFill>
                  <a:srgbClr val="7BE0C8"/>
                </a:solidFill>
                <a:latin typeface="Aptos"/>
                <a:ea typeface="Aptos"/>
                <a:cs typeface="Aptos"/>
              </a:rPr>
              <a:t>Taranan akademik çalışmalar bu dört ölçütü birlikte raporlamıyor. İlk olma iddiası yoktur.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162F3A"/>
                </a:solidFill>
                <a:latin typeface="Aptos"/>
                <a:ea typeface="Aptos"/>
                <a:cs typeface="Aptos"/>
              </a:rPr>
              <a:t>Prototip: ilk dikey dilim</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546771"/>
                </a:solidFill>
                <a:latin typeface="Aptos"/>
                <a:ea typeface="Aptos"/>
                <a:cs typeface="Aptos"/>
              </a:rPr>
              <a:t>13</a:t>
            </a:r>
          </a:p>
        </p:txBody>
      </p:sp>
      <p:sp>
        <p:nvSpPr>
          <p:cNvPr id="4" name="TextBox 3"/>
          <p:cNvSpPr txBox="1"/>
          <p:nvPr/>
        </p:nvSpPr>
        <p:spPr>
          <a:xfrm>
            <a:off x="609630" y="1371600"/>
            <a:ext cx="10762488" cy="548640"/>
          </a:xfrm>
          <a:prstGeom prst="rect">
            <a:avLst/>
          </a:prstGeom>
          <a:noFill/>
        </p:spPr>
        <p:txBody>
          <a:bodyPr wrap="square">
            <a:noAutofit/>
          </a:bodyPr>
          <a:lstStyle/>
          <a:p>
            <a:r>
              <a:rPr sz="2000" b="0" i="0">
                <a:solidFill>
                  <a:srgbClr val="147D7A"/>
                </a:solidFill>
                <a:latin typeface="Aptos"/>
                <a:ea typeface="Aptos"/>
                <a:cs typeface="Aptos"/>
              </a:rPr>
              <a:t>Tek köy bölgesi, iki NPC ve bir görev zinciri. Tüm katmanlar uçtan uca çalışacak.</a:t>
            </a:r>
          </a:p>
        </p:txBody>
      </p:sp>
      <p:graphicFrame>
        <p:nvGraphicFramePr>
          <p:cNvPr id="5" name="Table 4"/>
          <p:cNvGraphicFramePr>
            <a:graphicFrameLocks noGrp="1"/>
          </p:cNvGraphicFramePr>
          <p:nvPr/>
        </p:nvGraphicFramePr>
        <p:xfrm>
          <a:off x="609630" y="2011680"/>
          <a:ext cx="10972800" cy="3584442"/>
        </p:xfrm>
        <a:graphic>
          <a:graphicData uri="http://schemas.openxmlformats.org/drawingml/2006/table">
            <a:tbl>
              <a:tblPr/>
              <a:tblGrid>
                <a:gridCol w="3246120"/>
                <a:gridCol w="5897880"/>
                <a:gridCol w="1828800"/>
              </a:tblGrid>
              <a:tr h="457200">
                <a:tc>
                  <a:txBody>
                    <a:bodyPr wrap="square"/>
                    <a:lstStyle/>
                    <a:p>
                      <a:r>
                        <a:rPr sz="1650" b="1" i="0">
                          <a:solidFill>
                            <a:srgbClr val="FFFFFF"/>
                          </a:solidFill>
                          <a:latin typeface="Aptos"/>
                          <a:ea typeface="Aptos"/>
                          <a:cs typeface="Aptos"/>
                        </a:rPr>
                        <a:t>Bileşen</a:t>
                      </a:r>
                    </a:p>
                  </a:txBody>
                  <a:tcPr marL="91440" marR="91440" marT="45720" marB="45720">
                    <a:solidFill>
                      <a:srgbClr val="162F3A"/>
                    </a:solidFill>
                  </a:tcPr>
                </a:tc>
                <a:tc>
                  <a:txBody>
                    <a:bodyPr wrap="square"/>
                    <a:lstStyle/>
                    <a:p>
                      <a:r>
                        <a:rPr sz="1650" b="1" i="0">
                          <a:solidFill>
                            <a:srgbClr val="FFFFFF"/>
                          </a:solidFill>
                          <a:latin typeface="Aptos"/>
                          <a:ea typeface="Aptos"/>
                          <a:cs typeface="Aptos"/>
                        </a:rPr>
                        <a:t>Prototipteki görevi</a:t>
                      </a:r>
                    </a:p>
                  </a:txBody>
                  <a:tcPr marL="91440" marR="91440" marT="45720" marB="45720">
                    <a:solidFill>
                      <a:srgbClr val="162F3A"/>
                    </a:solidFill>
                  </a:tcPr>
                </a:tc>
                <a:tc>
                  <a:txBody>
                    <a:bodyPr wrap="square"/>
                    <a:lstStyle/>
                    <a:p>
                      <a:r>
                        <a:rPr sz="1650" b="1" i="0">
                          <a:solidFill>
                            <a:srgbClr val="FFFFFF"/>
                          </a:solidFill>
                          <a:latin typeface="Aptos"/>
                          <a:ea typeface="Aptos"/>
                          <a:cs typeface="Aptos"/>
                        </a:rPr>
                        <a:t>Durum</a:t>
                      </a:r>
                    </a:p>
                  </a:txBody>
                  <a:tcPr marL="91440" marR="91440" marT="45720" marB="45720">
                    <a:solidFill>
                      <a:srgbClr val="162F3A"/>
                    </a:solidFill>
                  </a:tcPr>
                </a:tc>
              </a:tr>
              <a:tr h="521207">
                <a:tc>
                  <a:txBody>
                    <a:bodyPr wrap="square"/>
                    <a:lstStyle/>
                    <a:p>
                      <a:r>
                        <a:rPr sz="1650" b="0" i="0">
                          <a:solidFill>
                            <a:srgbClr val="162F3A"/>
                          </a:solidFill>
                          <a:latin typeface="Aptos"/>
                          <a:ea typeface="Aptos"/>
                          <a:cs typeface="Aptos"/>
                        </a:rPr>
                        <a:t>EventManager</a:t>
                      </a:r>
                    </a:p>
                  </a:txBody>
                  <a:tcPr marL="91440" marR="91440" marT="45720" marB="45720">
                    <a:solidFill>
                      <a:srgbClr val="FFFFFF"/>
                    </a:solidFill>
                  </a:tcPr>
                </a:tc>
                <a:tc>
                  <a:txBody>
                    <a:bodyPr wrap="square"/>
                    <a:lstStyle/>
                    <a:p>
                      <a:r>
                        <a:rPr sz="1650" b="0" i="0">
                          <a:solidFill>
                            <a:srgbClr val="162F3A"/>
                          </a:solidFill>
                          <a:latin typeface="Aptos"/>
                          <a:ea typeface="Aptos"/>
                          <a:cs typeface="Aptos"/>
                        </a:rPr>
                        <a:t>Konuşma, bölgeye giriş ve eşya teslimini ilgili NPC’ye iletir.</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Planlandı</a:t>
                      </a:r>
                    </a:p>
                  </a:txBody>
                  <a:tcPr marL="91440" marR="91440" marT="45720" marB="45720">
                    <a:solidFill>
                      <a:srgbClr val="FFFFFF"/>
                    </a:solidFill>
                  </a:tcPr>
                </a:tc>
              </a:tr>
              <a:tr h="521207">
                <a:tc>
                  <a:txBody>
                    <a:bodyPr wrap="square"/>
                    <a:lstStyle/>
                    <a:p>
                      <a:r>
                        <a:rPr sz="1650" b="0" i="0">
                          <a:solidFill>
                            <a:srgbClr val="162F3A"/>
                          </a:solidFill>
                          <a:latin typeface="Aptos"/>
                          <a:ea typeface="Aptos"/>
                          <a:cs typeface="Aptos"/>
                        </a:rPr>
                        <a:t>NPCBrain</a:t>
                      </a:r>
                    </a:p>
                  </a:txBody>
                  <a:tcPr marL="91440" marR="91440" marT="45720" marB="45720">
                    <a:solidFill>
                      <a:srgbClr val="EAF0ED"/>
                    </a:solidFill>
                  </a:tcPr>
                </a:tc>
                <a:tc>
                  <a:txBody>
                    <a:bodyPr wrap="square"/>
                    <a:lstStyle/>
                    <a:p>
                      <a:r>
                        <a:rPr sz="1650" b="0" i="0">
                          <a:solidFill>
                            <a:srgbClr val="162F3A"/>
                          </a:solidFill>
                          <a:latin typeface="Aptos"/>
                          <a:ea typeface="Aptos"/>
                          <a:cs typeface="Aptos"/>
                        </a:rPr>
                        <a:t>Algılama, hafıza, karar ve üretim katmanlarını yönetir.</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Planlandı</a:t>
                      </a:r>
                    </a:p>
                  </a:txBody>
                  <a:tcPr marL="91440" marR="91440" marT="45720" marB="45720">
                    <a:solidFill>
                      <a:srgbClr val="EAF0ED"/>
                    </a:solidFill>
                  </a:tcPr>
                </a:tc>
              </a:tr>
              <a:tr h="521207">
                <a:tc>
                  <a:txBody>
                    <a:bodyPr wrap="square"/>
                    <a:lstStyle/>
                    <a:p>
                      <a:r>
                        <a:rPr sz="1650" b="0" i="0">
                          <a:solidFill>
                            <a:srgbClr val="162F3A"/>
                          </a:solidFill>
                          <a:latin typeface="Aptos"/>
                          <a:ea typeface="Aptos"/>
                          <a:cs typeface="Aptos"/>
                        </a:rPr>
                        <a:t>LLMClient + aracı sunucu</a:t>
                      </a:r>
                    </a:p>
                  </a:txBody>
                  <a:tcPr marL="91440" marR="91440" marT="45720" marB="45720">
                    <a:solidFill>
                      <a:srgbClr val="FFFFFF"/>
                    </a:solidFill>
                  </a:tcPr>
                </a:tc>
                <a:tc>
                  <a:txBody>
                    <a:bodyPr wrap="square"/>
                    <a:lstStyle/>
                    <a:p>
                      <a:r>
                        <a:rPr sz="1650" b="0" i="0">
                          <a:solidFill>
                            <a:srgbClr val="162F3A"/>
                          </a:solidFill>
                          <a:latin typeface="Aptos"/>
                          <a:ea typeface="Aptos"/>
                          <a:cs typeface="Aptos"/>
                        </a:rPr>
                        <a:t>Asenkron istek gönderir; API anahtarı istemcide tutulmaz.</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Planlandı</a:t>
                      </a:r>
                    </a:p>
                  </a:txBody>
                  <a:tcPr marL="91440" marR="91440" marT="45720" marB="45720">
                    <a:solidFill>
                      <a:srgbClr val="FFFFFF"/>
                    </a:solidFill>
                  </a:tcPr>
                </a:tc>
              </a:tr>
              <a:tr h="521207">
                <a:tc>
                  <a:txBody>
                    <a:bodyPr wrap="square"/>
                    <a:lstStyle/>
                    <a:p>
                      <a:r>
                        <a:rPr sz="1650" b="0" i="0">
                          <a:solidFill>
                            <a:srgbClr val="162F3A"/>
                          </a:solidFill>
                          <a:latin typeface="Aptos"/>
                          <a:ea typeface="Aptos"/>
                          <a:cs typeface="Aptos"/>
                        </a:rPr>
                        <a:t>ActionValidator</a:t>
                      </a:r>
                    </a:p>
                  </a:txBody>
                  <a:tcPr marL="91440" marR="91440" marT="45720" marB="45720">
                    <a:solidFill>
                      <a:srgbClr val="EAF0ED"/>
                    </a:solidFill>
                  </a:tcPr>
                </a:tc>
                <a:tc>
                  <a:txBody>
                    <a:bodyPr wrap="square"/>
                    <a:lstStyle/>
                    <a:p>
                      <a:r>
                        <a:rPr sz="1650" b="0" i="0">
                          <a:solidFill>
                            <a:srgbClr val="162F3A"/>
                          </a:solidFill>
                          <a:latin typeface="Aptos"/>
                          <a:ea typeface="Aptos"/>
                          <a:cs typeface="Aptos"/>
                        </a:rPr>
                        <a:t>Şema, izinli eylem, hedef ve ön koşul kontrolü yapar.</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Planlandı</a:t>
                      </a:r>
                    </a:p>
                  </a:txBody>
                  <a:tcPr marL="91440" marR="91440" marT="45720" marB="45720">
                    <a:solidFill>
                      <a:srgbClr val="EAF0ED"/>
                    </a:solidFill>
                  </a:tcPr>
                </a:tc>
              </a:tr>
              <a:tr h="521207">
                <a:tc>
                  <a:txBody>
                    <a:bodyPr wrap="square"/>
                    <a:lstStyle/>
                    <a:p>
                      <a:r>
                        <a:rPr sz="1650" b="0" i="0">
                          <a:solidFill>
                            <a:srgbClr val="162F3A"/>
                          </a:solidFill>
                          <a:latin typeface="Aptos"/>
                          <a:ea typeface="Aptos"/>
                          <a:cs typeface="Aptos"/>
                        </a:rPr>
                        <a:t>GameExecutor + yedek diyalog</a:t>
                      </a:r>
                    </a:p>
                  </a:txBody>
                  <a:tcPr marL="91440" marR="91440" marT="45720" marB="45720">
                    <a:solidFill>
                      <a:srgbClr val="FFFFFF"/>
                    </a:solidFill>
                  </a:tcPr>
                </a:tc>
                <a:tc>
                  <a:txBody>
                    <a:bodyPr wrap="square"/>
                    <a:lstStyle/>
                    <a:p>
                      <a:r>
                        <a:rPr sz="1650" b="0" i="0">
                          <a:solidFill>
                            <a:srgbClr val="162F3A"/>
                          </a:solidFill>
                          <a:latin typeface="Aptos"/>
                          <a:ea typeface="Aptos"/>
                          <a:cs typeface="Aptos"/>
                        </a:rPr>
                        <a:t>Görevi açar ve kaydeder; hata olursa yerel yanıt verir.</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Planlandı</a:t>
                      </a:r>
                    </a:p>
                  </a:txBody>
                  <a:tcPr marL="91440" marR="91440" marT="45720" marB="45720">
                    <a:solidFill>
                      <a:srgbClr val="FFFFFF"/>
                    </a:solidFill>
                  </a:tcPr>
                </a:tc>
              </a:tr>
              <a:tr h="521207">
                <a:tc>
                  <a:txBody>
                    <a:bodyPr wrap="square"/>
                    <a:lstStyle/>
                    <a:p>
                      <a:r>
                        <a:rPr sz="1650" b="0" i="0">
                          <a:solidFill>
                            <a:srgbClr val="162F3A"/>
                          </a:solidFill>
                          <a:latin typeface="Aptos"/>
                          <a:ea typeface="Aptos"/>
                          <a:cs typeface="Aptos"/>
                        </a:rPr>
                        <a:t>Telemetri kaydı</a:t>
                      </a:r>
                    </a:p>
                  </a:txBody>
                  <a:tcPr marL="91440" marR="91440" marT="45720" marB="45720">
                    <a:solidFill>
                      <a:srgbClr val="EAF0ED"/>
                    </a:solidFill>
                  </a:tcPr>
                </a:tc>
                <a:tc>
                  <a:txBody>
                    <a:bodyPr wrap="square"/>
                    <a:lstStyle/>
                    <a:p>
                      <a:r>
                        <a:rPr sz="1650" b="0" i="0">
                          <a:solidFill>
                            <a:srgbClr val="162F3A"/>
                          </a:solidFill>
                          <a:latin typeface="Aptos"/>
                          <a:ea typeface="Aptos"/>
                          <a:cs typeface="Aptos"/>
                        </a:rPr>
                        <a:t>Her istek için gecikme, token ve sonuç kodunu CSV’ye yazar.</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Planlandı</a:t>
                      </a:r>
                    </a:p>
                  </a:txBody>
                  <a:tcPr marL="91440" marR="91440" marT="45720" marB="45720">
                    <a:solidFill>
                      <a:srgbClr val="EAF0ED"/>
                    </a:solidFill>
                  </a:tcPr>
                </a:tc>
              </a:tr>
            </a:tbl>
          </a:graphicData>
        </a:graphic>
      </p:graphicFrame>
      <p:sp>
        <p:nvSpPr>
          <p:cNvPr id="6" name="TextBox 5"/>
          <p:cNvSpPr txBox="1"/>
          <p:nvPr/>
        </p:nvSpPr>
        <p:spPr>
          <a:xfrm>
            <a:off x="609630" y="5833872"/>
            <a:ext cx="10241280" cy="457200"/>
          </a:xfrm>
          <a:prstGeom prst="rect">
            <a:avLst/>
          </a:prstGeom>
          <a:noFill/>
        </p:spPr>
        <p:txBody>
          <a:bodyPr wrap="square">
            <a:noAutofit/>
          </a:bodyPr>
          <a:lstStyle/>
          <a:p>
            <a:r>
              <a:rPr sz="1650" b="0" i="0">
                <a:solidFill>
                  <a:srgbClr val="147D7A"/>
                </a:solidFill>
                <a:latin typeface="Aptos"/>
                <a:ea typeface="Aptos"/>
                <a:cs typeface="Aptos"/>
              </a:rPr>
              <a:t>Durum sütunu ilerledikçe güncellenecek. Ekran görüntüsü ve demo videosu bu slayta eklenecek.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F2B"/>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FFFFFF"/>
                </a:solidFill>
                <a:latin typeface="Aptos"/>
                <a:ea typeface="Aptos"/>
                <a:cs typeface="Aptos"/>
              </a:rPr>
              <a:t>Prototip kabul senaryoları</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A7BBC5"/>
                </a:solidFill>
                <a:latin typeface="Aptos"/>
                <a:ea typeface="Aptos"/>
                <a:cs typeface="Aptos"/>
              </a:rPr>
              <a:t>14</a:t>
            </a:r>
          </a:p>
        </p:txBody>
      </p:sp>
      <p:sp>
        <p:nvSpPr>
          <p:cNvPr id="4" name="TextBox 3"/>
          <p:cNvSpPr txBox="1"/>
          <p:nvPr/>
        </p:nvSpPr>
        <p:spPr>
          <a:xfrm>
            <a:off x="609630" y="1371600"/>
            <a:ext cx="10762488" cy="548640"/>
          </a:xfrm>
          <a:prstGeom prst="rect">
            <a:avLst/>
          </a:prstGeom>
          <a:noFill/>
        </p:spPr>
        <p:txBody>
          <a:bodyPr wrap="square">
            <a:noAutofit/>
          </a:bodyPr>
          <a:lstStyle/>
          <a:p>
            <a:r>
              <a:rPr sz="2000" b="0" i="0">
                <a:solidFill>
                  <a:srgbClr val="7BE0C8"/>
                </a:solidFill>
                <a:latin typeface="Aptos"/>
                <a:ea typeface="Aptos"/>
                <a:cs typeface="Aptos"/>
              </a:rPr>
              <a:t>Her senaryo, demoda geçmesi gereken bir testtir.</a:t>
            </a:r>
          </a:p>
        </p:txBody>
      </p:sp>
      <p:sp>
        <p:nvSpPr>
          <p:cNvPr id="5" name="TextBox 4"/>
          <p:cNvSpPr txBox="1"/>
          <p:nvPr/>
        </p:nvSpPr>
        <p:spPr>
          <a:xfrm>
            <a:off x="609630" y="2103120"/>
            <a:ext cx="2834640" cy="548640"/>
          </a:xfrm>
          <a:prstGeom prst="rect">
            <a:avLst/>
          </a:prstGeom>
          <a:noFill/>
        </p:spPr>
        <p:txBody>
          <a:bodyPr wrap="square">
            <a:noAutofit/>
          </a:bodyPr>
          <a:lstStyle/>
          <a:p>
            <a:r>
              <a:rPr sz="1950" b="1" i="0">
                <a:solidFill>
                  <a:srgbClr val="7BE0C8"/>
                </a:solidFill>
                <a:latin typeface="Aptos"/>
                <a:ea typeface="Aptos"/>
                <a:cs typeface="Aptos"/>
              </a:rPr>
              <a:t>S1  Ot var</a:t>
            </a:r>
          </a:p>
        </p:txBody>
      </p:sp>
      <p:sp>
        <p:nvSpPr>
          <p:cNvPr id="6" name="TextBox 5"/>
          <p:cNvSpPr txBox="1"/>
          <p:nvPr/>
        </p:nvSpPr>
        <p:spPr>
          <a:xfrm>
            <a:off x="3571920" y="2103120"/>
            <a:ext cx="7854696" cy="731520"/>
          </a:xfrm>
          <a:prstGeom prst="rect">
            <a:avLst/>
          </a:prstGeom>
          <a:noFill/>
        </p:spPr>
        <p:txBody>
          <a:bodyPr wrap="square">
            <a:noAutofit/>
          </a:bodyPr>
          <a:lstStyle/>
          <a:p>
            <a:r>
              <a:rPr sz="1800" b="0" i="0">
                <a:solidFill>
                  <a:srgbClr val="E2EAED"/>
                </a:solidFill>
                <a:latin typeface="Aptos"/>
                <a:ea typeface="Aptos"/>
                <a:cs typeface="Aptos"/>
              </a:rPr>
              <a:t>Teslim görevi açılır ve ilerleme kaydedilir. NPC yanıtı envanterle tutarlıdır.</a:t>
            </a:r>
          </a:p>
        </p:txBody>
      </p:sp>
      <p:sp>
        <p:nvSpPr>
          <p:cNvPr id="7" name="TextBox 6"/>
          <p:cNvSpPr txBox="1"/>
          <p:nvPr/>
        </p:nvSpPr>
        <p:spPr>
          <a:xfrm>
            <a:off x="609630" y="2871215"/>
            <a:ext cx="2834640" cy="548640"/>
          </a:xfrm>
          <a:prstGeom prst="rect">
            <a:avLst/>
          </a:prstGeom>
          <a:noFill/>
        </p:spPr>
        <p:txBody>
          <a:bodyPr wrap="square">
            <a:noAutofit/>
          </a:bodyPr>
          <a:lstStyle/>
          <a:p>
            <a:r>
              <a:rPr sz="1950" b="1" i="0">
                <a:solidFill>
                  <a:srgbClr val="7BE0C8"/>
                </a:solidFill>
                <a:latin typeface="Aptos"/>
                <a:ea typeface="Aptos"/>
                <a:cs typeface="Aptos"/>
              </a:rPr>
              <a:t>S2  Ot yok</a:t>
            </a:r>
          </a:p>
        </p:txBody>
      </p:sp>
      <p:sp>
        <p:nvSpPr>
          <p:cNvPr id="8" name="TextBox 7"/>
          <p:cNvSpPr txBox="1"/>
          <p:nvPr/>
        </p:nvSpPr>
        <p:spPr>
          <a:xfrm>
            <a:off x="3571920" y="2871215"/>
            <a:ext cx="7854696" cy="731520"/>
          </a:xfrm>
          <a:prstGeom prst="rect">
            <a:avLst/>
          </a:prstGeom>
          <a:noFill/>
        </p:spPr>
        <p:txBody>
          <a:bodyPr wrap="square">
            <a:noAutofit/>
          </a:bodyPr>
          <a:lstStyle/>
          <a:p>
            <a:r>
              <a:rPr sz="1800" b="0" i="0">
                <a:solidFill>
                  <a:srgbClr val="E2EAED"/>
                </a:solidFill>
                <a:latin typeface="Aptos"/>
                <a:ea typeface="Aptos"/>
                <a:cs typeface="Aptos"/>
              </a:rPr>
              <a:t>Toplama görevi önerilir. Teslim görevi açılmaz.</a:t>
            </a:r>
          </a:p>
        </p:txBody>
      </p:sp>
      <p:sp>
        <p:nvSpPr>
          <p:cNvPr id="9" name="TextBox 8"/>
          <p:cNvSpPr txBox="1"/>
          <p:nvPr/>
        </p:nvSpPr>
        <p:spPr>
          <a:xfrm>
            <a:off x="609630" y="3639311"/>
            <a:ext cx="2834640" cy="548640"/>
          </a:xfrm>
          <a:prstGeom prst="rect">
            <a:avLst/>
          </a:prstGeom>
          <a:noFill/>
        </p:spPr>
        <p:txBody>
          <a:bodyPr wrap="square">
            <a:noAutofit/>
          </a:bodyPr>
          <a:lstStyle/>
          <a:p>
            <a:r>
              <a:rPr sz="1950" b="1" i="0">
                <a:solidFill>
                  <a:srgbClr val="7BE0C8"/>
                </a:solidFill>
                <a:latin typeface="Aptos"/>
                <a:ea typeface="Aptos"/>
                <a:cs typeface="Aptos"/>
              </a:rPr>
              <a:t>S3  Tekrar teslim</a:t>
            </a:r>
          </a:p>
        </p:txBody>
      </p:sp>
      <p:sp>
        <p:nvSpPr>
          <p:cNvPr id="10" name="TextBox 9"/>
          <p:cNvSpPr txBox="1"/>
          <p:nvPr/>
        </p:nvSpPr>
        <p:spPr>
          <a:xfrm>
            <a:off x="3571920" y="3639311"/>
            <a:ext cx="7854696" cy="731520"/>
          </a:xfrm>
          <a:prstGeom prst="rect">
            <a:avLst/>
          </a:prstGeom>
          <a:noFill/>
        </p:spPr>
        <p:txBody>
          <a:bodyPr wrap="square">
            <a:noAutofit/>
          </a:bodyPr>
          <a:lstStyle/>
          <a:p>
            <a:r>
              <a:rPr sz="1800" b="0" i="0">
                <a:solidFill>
                  <a:srgbClr val="E2EAED"/>
                </a:solidFill>
                <a:latin typeface="Aptos"/>
                <a:ea typeface="Aptos"/>
                <a:cs typeface="Aptos"/>
              </a:rPr>
              <a:t>Ödül ikinci kez verilmez. İşlem kimliği tekrarı engeller.</a:t>
            </a:r>
          </a:p>
        </p:txBody>
      </p:sp>
      <p:sp>
        <p:nvSpPr>
          <p:cNvPr id="11" name="TextBox 10"/>
          <p:cNvSpPr txBox="1"/>
          <p:nvPr/>
        </p:nvSpPr>
        <p:spPr>
          <a:xfrm>
            <a:off x="609630" y="4407407"/>
            <a:ext cx="2834640" cy="548640"/>
          </a:xfrm>
          <a:prstGeom prst="rect">
            <a:avLst/>
          </a:prstGeom>
          <a:noFill/>
        </p:spPr>
        <p:txBody>
          <a:bodyPr wrap="square">
            <a:noAutofit/>
          </a:bodyPr>
          <a:lstStyle/>
          <a:p>
            <a:r>
              <a:rPr sz="1950" b="1" i="0">
                <a:solidFill>
                  <a:srgbClr val="7BE0C8"/>
                </a:solidFill>
                <a:latin typeface="Aptos"/>
                <a:ea typeface="Aptos"/>
                <a:cs typeface="Aptos"/>
              </a:rPr>
              <a:t>S4  Geçersiz yanıt</a:t>
            </a:r>
          </a:p>
        </p:txBody>
      </p:sp>
      <p:sp>
        <p:nvSpPr>
          <p:cNvPr id="12" name="TextBox 11"/>
          <p:cNvSpPr txBox="1"/>
          <p:nvPr/>
        </p:nvSpPr>
        <p:spPr>
          <a:xfrm>
            <a:off x="3571920" y="4407407"/>
            <a:ext cx="7854696" cy="731520"/>
          </a:xfrm>
          <a:prstGeom prst="rect">
            <a:avLst/>
          </a:prstGeom>
          <a:noFill/>
        </p:spPr>
        <p:txBody>
          <a:bodyPr wrap="square">
            <a:noAutofit/>
          </a:bodyPr>
          <a:lstStyle/>
          <a:p>
            <a:r>
              <a:rPr sz="1800" b="0" i="0">
                <a:solidFill>
                  <a:srgbClr val="E2EAED"/>
                </a:solidFill>
                <a:latin typeface="Aptos"/>
                <a:ea typeface="Aptos"/>
                <a:cs typeface="Aptos"/>
              </a:rPr>
              <a:t>Bozuk JSON veya izinsiz eylem oyun durumunu değiştirmez. Yedek diyalog devreye girer.</a:t>
            </a:r>
          </a:p>
        </p:txBody>
      </p:sp>
      <p:sp>
        <p:nvSpPr>
          <p:cNvPr id="13" name="TextBox 12"/>
          <p:cNvSpPr txBox="1"/>
          <p:nvPr/>
        </p:nvSpPr>
        <p:spPr>
          <a:xfrm>
            <a:off x="609630" y="5175503"/>
            <a:ext cx="2834640" cy="548640"/>
          </a:xfrm>
          <a:prstGeom prst="rect">
            <a:avLst/>
          </a:prstGeom>
          <a:noFill/>
        </p:spPr>
        <p:txBody>
          <a:bodyPr wrap="square">
            <a:noAutofit/>
          </a:bodyPr>
          <a:lstStyle/>
          <a:p>
            <a:r>
              <a:rPr sz="1950" b="1" i="0">
                <a:solidFill>
                  <a:srgbClr val="7BE0C8"/>
                </a:solidFill>
                <a:latin typeface="Aptos"/>
                <a:ea typeface="Aptos"/>
                <a:cs typeface="Aptos"/>
              </a:rPr>
              <a:t>S5  API kesintisi</a:t>
            </a:r>
          </a:p>
        </p:txBody>
      </p:sp>
      <p:sp>
        <p:nvSpPr>
          <p:cNvPr id="14" name="TextBox 13"/>
          <p:cNvSpPr txBox="1"/>
          <p:nvPr/>
        </p:nvSpPr>
        <p:spPr>
          <a:xfrm>
            <a:off x="3571920" y="5175503"/>
            <a:ext cx="7854696" cy="731520"/>
          </a:xfrm>
          <a:prstGeom prst="rect">
            <a:avLst/>
          </a:prstGeom>
          <a:noFill/>
        </p:spPr>
        <p:txBody>
          <a:bodyPr wrap="square">
            <a:noAutofit/>
          </a:bodyPr>
          <a:lstStyle/>
          <a:p>
            <a:r>
              <a:rPr sz="1800" b="0" i="0">
                <a:solidFill>
                  <a:srgbClr val="E2EAED"/>
                </a:solidFill>
                <a:latin typeface="Aptos"/>
                <a:ea typeface="Aptos"/>
                <a:cs typeface="Aptos"/>
              </a:rPr>
              <a:t>Zaman aşımı ve sınırlı yeniden denemeden sonra yerel yanıt verilir. Oyun akışı durmaz.</a:t>
            </a:r>
          </a:p>
        </p:txBody>
      </p:sp>
      <p:sp>
        <p:nvSpPr>
          <p:cNvPr id="15" name="TextBox 14"/>
          <p:cNvSpPr txBox="1"/>
          <p:nvPr/>
        </p:nvSpPr>
        <p:spPr>
          <a:xfrm>
            <a:off x="609630" y="5989320"/>
            <a:ext cx="10058400" cy="365760"/>
          </a:xfrm>
          <a:prstGeom prst="rect">
            <a:avLst/>
          </a:prstGeom>
          <a:noFill/>
        </p:spPr>
        <p:txBody>
          <a:bodyPr wrap="square">
            <a:noAutofit/>
          </a:bodyPr>
          <a:lstStyle/>
          <a:p>
            <a:r>
              <a:rPr sz="1700" b="0" i="0">
                <a:solidFill>
                  <a:srgbClr val="7BE0C8"/>
                </a:solidFill>
                <a:latin typeface="Aptos"/>
                <a:ea typeface="Aptos"/>
                <a:cs typeface="Aptos"/>
              </a:rPr>
              <a:t>Senaryo sonuçları demo kaydı ve telemetri çıktısıyla raporlanacak.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F2B"/>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FFFFFF"/>
                </a:solidFill>
                <a:latin typeface="Aptos"/>
                <a:ea typeface="Aptos"/>
                <a:cs typeface="Aptos"/>
              </a:rPr>
              <a:t>Hipotezler ve başarı ölçütleri</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A7BBC5"/>
                </a:solidFill>
                <a:latin typeface="Aptos"/>
                <a:ea typeface="Aptos"/>
                <a:cs typeface="Aptos"/>
              </a:rPr>
              <a:t>16</a:t>
            </a:r>
          </a:p>
        </p:txBody>
      </p:sp>
      <p:sp>
        <p:nvSpPr>
          <p:cNvPr id="4" name="TextBox 3"/>
          <p:cNvSpPr txBox="1"/>
          <p:nvPr/>
        </p:nvSpPr>
        <p:spPr>
          <a:xfrm>
            <a:off x="609630" y="1783080"/>
            <a:ext cx="2834640" cy="548640"/>
          </a:xfrm>
          <a:prstGeom prst="rect">
            <a:avLst/>
          </a:prstGeom>
          <a:noFill/>
        </p:spPr>
        <p:txBody>
          <a:bodyPr wrap="square">
            <a:noAutofit/>
          </a:bodyPr>
          <a:lstStyle/>
          <a:p>
            <a:r>
              <a:rPr sz="1950" b="1" i="0">
                <a:solidFill>
                  <a:srgbClr val="7BE0C8"/>
                </a:solidFill>
                <a:latin typeface="Aptos"/>
                <a:ea typeface="Aptos"/>
                <a:cs typeface="Aptos"/>
              </a:rPr>
              <a:t>H1  Güvenilirlik</a:t>
            </a:r>
          </a:p>
        </p:txBody>
      </p:sp>
      <p:sp>
        <p:nvSpPr>
          <p:cNvPr id="5" name="TextBox 4"/>
          <p:cNvSpPr txBox="1"/>
          <p:nvPr/>
        </p:nvSpPr>
        <p:spPr>
          <a:xfrm>
            <a:off x="3571920" y="1783080"/>
            <a:ext cx="7854696" cy="960120"/>
          </a:xfrm>
          <a:prstGeom prst="rect">
            <a:avLst/>
          </a:prstGeom>
          <a:noFill/>
        </p:spPr>
        <p:txBody>
          <a:bodyPr wrap="square">
            <a:noAutofit/>
          </a:bodyPr>
          <a:lstStyle/>
          <a:p>
            <a:pPr>
              <a:spcAft>
                <a:spcPts val="300"/>
              </a:spcAft>
            </a:pPr>
            <a:r>
              <a:rPr sz="1750" b="0" i="0">
                <a:solidFill>
                  <a:srgbClr val="E2EAED"/>
                </a:solidFill>
                <a:latin typeface="Aptos"/>
                <a:ea typeface="Aptos"/>
                <a:cs typeface="Aptos"/>
              </a:rPr>
              <a:t>Doğrulama katmanı, geçersiz LLM eylemlerinin oyun durumuna ulaşmasını engeller.</a:t>
            </a:r>
          </a:p>
          <a:p>
            <a:r>
              <a:rPr sz="1500" b="0" i="0">
                <a:solidFill>
                  <a:srgbClr val="7BE0C8"/>
                </a:solidFill>
                <a:latin typeface="Aptos"/>
                <a:ea typeface="Aptos"/>
                <a:cs typeface="Aptos"/>
              </a:rPr>
              <a:t>Ölçüt: hata enjeksiyonu altında oyun durumunu değiştiren geçersiz eylem sayısı = 0</a:t>
            </a:r>
          </a:p>
        </p:txBody>
      </p:sp>
      <p:sp>
        <p:nvSpPr>
          <p:cNvPr id="6" name="TextBox 5"/>
          <p:cNvSpPr txBox="1"/>
          <p:nvPr/>
        </p:nvSpPr>
        <p:spPr>
          <a:xfrm>
            <a:off x="609630" y="2852928"/>
            <a:ext cx="2834640" cy="548640"/>
          </a:xfrm>
          <a:prstGeom prst="rect">
            <a:avLst/>
          </a:prstGeom>
          <a:noFill/>
        </p:spPr>
        <p:txBody>
          <a:bodyPr wrap="square">
            <a:noAutofit/>
          </a:bodyPr>
          <a:lstStyle/>
          <a:p>
            <a:r>
              <a:rPr sz="1950" b="1" i="0">
                <a:solidFill>
                  <a:srgbClr val="7BE0C8"/>
                </a:solidFill>
                <a:latin typeface="Aptos"/>
                <a:ea typeface="Aptos"/>
                <a:cs typeface="Aptos"/>
              </a:rPr>
              <a:t>H2  Gecikme</a:t>
            </a:r>
          </a:p>
        </p:txBody>
      </p:sp>
      <p:sp>
        <p:nvSpPr>
          <p:cNvPr id="7" name="TextBox 6"/>
          <p:cNvSpPr txBox="1"/>
          <p:nvPr/>
        </p:nvSpPr>
        <p:spPr>
          <a:xfrm>
            <a:off x="3571920" y="2852928"/>
            <a:ext cx="7854696" cy="960120"/>
          </a:xfrm>
          <a:prstGeom prst="rect">
            <a:avLst/>
          </a:prstGeom>
          <a:noFill/>
        </p:spPr>
        <p:txBody>
          <a:bodyPr wrap="square">
            <a:noAutofit/>
          </a:bodyPr>
          <a:lstStyle/>
          <a:p>
            <a:pPr>
              <a:spcAft>
                <a:spcPts val="300"/>
              </a:spcAft>
            </a:pPr>
            <a:r>
              <a:rPr sz="1750" b="0" i="0">
                <a:solidFill>
                  <a:srgbClr val="E2EAED"/>
                </a:solidFill>
                <a:latin typeface="Aptos"/>
                <a:ea typeface="Aptos"/>
                <a:cs typeface="Aptos"/>
              </a:rPr>
              <a:t>Durum sürümüne bağlı önbellek, tekrarlanan etkileşimlerde yanıt süresini kısaltır.</a:t>
            </a:r>
          </a:p>
          <a:p>
            <a:r>
              <a:rPr sz="1500" b="0" i="0">
                <a:solidFill>
                  <a:srgbClr val="7BE0C8"/>
                </a:solidFill>
                <a:latin typeface="Aptos"/>
                <a:ea typeface="Aptos"/>
                <a:cs typeface="Aptos"/>
              </a:rPr>
              <a:t>Ölçüt: önbellek açık / kapalı; p95 yanıt süresi için referans 4 s (Maslych vd., 2025)</a:t>
            </a:r>
          </a:p>
        </p:txBody>
      </p:sp>
      <p:sp>
        <p:nvSpPr>
          <p:cNvPr id="8" name="TextBox 7"/>
          <p:cNvSpPr txBox="1"/>
          <p:nvPr/>
        </p:nvSpPr>
        <p:spPr>
          <a:xfrm>
            <a:off x="609630" y="3922776"/>
            <a:ext cx="2834640" cy="548640"/>
          </a:xfrm>
          <a:prstGeom prst="rect">
            <a:avLst/>
          </a:prstGeom>
          <a:noFill/>
        </p:spPr>
        <p:txBody>
          <a:bodyPr wrap="square">
            <a:noAutofit/>
          </a:bodyPr>
          <a:lstStyle/>
          <a:p>
            <a:r>
              <a:rPr sz="1950" b="1" i="0">
                <a:solidFill>
                  <a:srgbClr val="7BE0C8"/>
                </a:solidFill>
                <a:latin typeface="Aptos"/>
                <a:ea typeface="Aptos"/>
                <a:cs typeface="Aptos"/>
              </a:rPr>
              <a:t>H3  Maliyet</a:t>
            </a:r>
          </a:p>
        </p:txBody>
      </p:sp>
      <p:sp>
        <p:nvSpPr>
          <p:cNvPr id="9" name="TextBox 8"/>
          <p:cNvSpPr txBox="1"/>
          <p:nvPr/>
        </p:nvSpPr>
        <p:spPr>
          <a:xfrm>
            <a:off x="3571920" y="3922776"/>
            <a:ext cx="7854696" cy="960120"/>
          </a:xfrm>
          <a:prstGeom prst="rect">
            <a:avLst/>
          </a:prstGeom>
          <a:noFill/>
        </p:spPr>
        <p:txBody>
          <a:bodyPr wrap="square">
            <a:noAutofit/>
          </a:bodyPr>
          <a:lstStyle/>
          <a:p>
            <a:pPr>
              <a:spcAft>
                <a:spcPts val="300"/>
              </a:spcAft>
            </a:pPr>
            <a:r>
              <a:rPr sz="1750" b="0" i="0">
                <a:solidFill>
                  <a:srgbClr val="E2EAED"/>
                </a:solidFill>
                <a:latin typeface="Aptos"/>
                <a:ea typeface="Aptos"/>
                <a:cs typeface="Aptos"/>
              </a:rPr>
              <a:t>Özet hafızalı kısa bağlam, tutarlılığı belirgin düşürmeden token tüketimini azaltır.</a:t>
            </a:r>
          </a:p>
          <a:p>
            <a:r>
              <a:rPr sz="1500" b="0" i="0">
                <a:solidFill>
                  <a:srgbClr val="7BE0C8"/>
                </a:solidFill>
                <a:latin typeface="Aptos"/>
                <a:ea typeface="Aptos"/>
                <a:cs typeface="Aptos"/>
              </a:rPr>
              <a:t>Ölçüt: kısa / uzun bağlam, etkileşim başına token ve tutarlılık puanı</a:t>
            </a:r>
          </a:p>
        </p:txBody>
      </p:sp>
      <p:sp>
        <p:nvSpPr>
          <p:cNvPr id="10" name="TextBox 9"/>
          <p:cNvSpPr txBox="1"/>
          <p:nvPr/>
        </p:nvSpPr>
        <p:spPr>
          <a:xfrm>
            <a:off x="609630" y="4992624"/>
            <a:ext cx="2834640" cy="548640"/>
          </a:xfrm>
          <a:prstGeom prst="rect">
            <a:avLst/>
          </a:prstGeom>
          <a:noFill/>
        </p:spPr>
        <p:txBody>
          <a:bodyPr wrap="square">
            <a:noAutofit/>
          </a:bodyPr>
          <a:lstStyle/>
          <a:p>
            <a:r>
              <a:rPr sz="1950" b="1" i="0">
                <a:solidFill>
                  <a:srgbClr val="7BE0C8"/>
                </a:solidFill>
                <a:latin typeface="Aptos"/>
                <a:ea typeface="Aptos"/>
                <a:cs typeface="Aptos"/>
              </a:rPr>
              <a:t>H4  Akıcılık</a:t>
            </a:r>
          </a:p>
        </p:txBody>
      </p:sp>
      <p:sp>
        <p:nvSpPr>
          <p:cNvPr id="11" name="TextBox 10"/>
          <p:cNvSpPr txBox="1"/>
          <p:nvPr/>
        </p:nvSpPr>
        <p:spPr>
          <a:xfrm>
            <a:off x="3571920" y="4992624"/>
            <a:ext cx="7854696" cy="960120"/>
          </a:xfrm>
          <a:prstGeom prst="rect">
            <a:avLst/>
          </a:prstGeom>
          <a:noFill/>
        </p:spPr>
        <p:txBody>
          <a:bodyPr wrap="square">
            <a:noAutofit/>
          </a:bodyPr>
          <a:lstStyle/>
          <a:p>
            <a:pPr>
              <a:spcAft>
                <a:spcPts val="300"/>
              </a:spcAft>
            </a:pPr>
            <a:r>
              <a:rPr sz="1750" b="0" i="0">
                <a:solidFill>
                  <a:srgbClr val="E2EAED"/>
                </a:solidFill>
                <a:latin typeface="Aptos"/>
                <a:ea typeface="Aptos"/>
                <a:cs typeface="Aptos"/>
              </a:rPr>
              <a:t>Asenkron istekler, LLM yanıtı beklenirken kare süresini korur.</a:t>
            </a:r>
          </a:p>
          <a:p>
            <a:r>
              <a:rPr sz="1500" b="0" i="0">
                <a:solidFill>
                  <a:srgbClr val="7BE0C8"/>
                </a:solidFill>
                <a:latin typeface="Aptos"/>
                <a:ea typeface="Aptos"/>
                <a:cs typeface="Aptos"/>
              </a:rPr>
              <a:t>Ölçüt: istek sırasında ve dışında kare süresi; PC’de 60 FPS hedefi (16,7 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162F3A"/>
                </a:solidFill>
                <a:latin typeface="Aptos"/>
                <a:ea typeface="Aptos"/>
                <a:cs typeface="Aptos"/>
              </a:rPr>
              <a:t>Bulgular: sonuç tablosu</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546771"/>
                </a:solidFill>
                <a:latin typeface="Aptos"/>
                <a:ea typeface="Aptos"/>
                <a:cs typeface="Aptos"/>
              </a:rPr>
              <a:t>17</a:t>
            </a:r>
          </a:p>
        </p:txBody>
      </p:sp>
      <p:sp>
        <p:nvSpPr>
          <p:cNvPr id="4" name="TextBox 3"/>
          <p:cNvSpPr txBox="1"/>
          <p:nvPr/>
        </p:nvSpPr>
        <p:spPr>
          <a:xfrm>
            <a:off x="609630" y="1371600"/>
            <a:ext cx="10762488" cy="548640"/>
          </a:xfrm>
          <a:prstGeom prst="rect">
            <a:avLst/>
          </a:prstGeom>
          <a:noFill/>
        </p:spPr>
        <p:txBody>
          <a:bodyPr wrap="square">
            <a:noAutofit/>
          </a:bodyPr>
          <a:lstStyle/>
          <a:p>
            <a:r>
              <a:rPr sz="2000" b="0" i="0">
                <a:solidFill>
                  <a:srgbClr val="147D7A"/>
                </a:solidFill>
                <a:latin typeface="Aptos"/>
                <a:ea typeface="Aptos"/>
                <a:cs typeface="Aptos"/>
              </a:rPr>
              <a:t>Aynı olay dizisi üç koşulda, tekrarlı olarak çalıştırılacak.</a:t>
            </a:r>
          </a:p>
        </p:txBody>
      </p:sp>
      <p:graphicFrame>
        <p:nvGraphicFramePr>
          <p:cNvPr id="5" name="Table 4"/>
          <p:cNvGraphicFramePr>
            <a:graphicFrameLocks noGrp="1"/>
          </p:cNvGraphicFramePr>
          <p:nvPr/>
        </p:nvGraphicFramePr>
        <p:xfrm>
          <a:off x="609630" y="2011680"/>
          <a:ext cx="10972800" cy="3630162"/>
        </p:xfrm>
        <a:graphic>
          <a:graphicData uri="http://schemas.openxmlformats.org/drawingml/2006/table">
            <a:tbl>
              <a:tblPr/>
              <a:tblGrid>
                <a:gridCol w="3657600"/>
                <a:gridCol w="2194560"/>
                <a:gridCol w="2194560"/>
                <a:gridCol w="2926080"/>
              </a:tblGrid>
              <a:tr h="502920">
                <a:tc>
                  <a:txBody>
                    <a:bodyPr wrap="square"/>
                    <a:lstStyle/>
                    <a:p>
                      <a:r>
                        <a:rPr sz="1650" b="1" i="0">
                          <a:solidFill>
                            <a:srgbClr val="FFFFFF"/>
                          </a:solidFill>
                          <a:latin typeface="Aptos"/>
                          <a:ea typeface="Aptos"/>
                          <a:cs typeface="Aptos"/>
                        </a:rPr>
                        <a:t>Metrik</a:t>
                      </a:r>
                    </a:p>
                  </a:txBody>
                  <a:tcPr marL="91440" marR="91440" marT="45720" marB="45720">
                    <a:solidFill>
                      <a:srgbClr val="162F3A"/>
                    </a:solidFill>
                  </a:tcPr>
                </a:tc>
                <a:tc>
                  <a:txBody>
                    <a:bodyPr wrap="square"/>
                    <a:lstStyle/>
                    <a:p>
                      <a:r>
                        <a:rPr sz="1650" b="1" i="0">
                          <a:solidFill>
                            <a:srgbClr val="FFFFFF"/>
                          </a:solidFill>
                          <a:latin typeface="Aptos"/>
                          <a:ea typeface="Aptos"/>
                          <a:cs typeface="Aptos"/>
                        </a:rPr>
                        <a:t>Sabit diyalog</a:t>
                      </a:r>
                    </a:p>
                  </a:txBody>
                  <a:tcPr marL="91440" marR="91440" marT="45720" marB="45720">
                    <a:solidFill>
                      <a:srgbClr val="162F3A"/>
                    </a:solidFill>
                  </a:tcPr>
                </a:tc>
                <a:tc>
                  <a:txBody>
                    <a:bodyPr wrap="square"/>
                    <a:lstStyle/>
                    <a:p>
                      <a:r>
                        <a:rPr sz="1650" b="1" i="0">
                          <a:solidFill>
                            <a:srgbClr val="FFFFFF"/>
                          </a:solidFill>
                          <a:latin typeface="Aptos"/>
                          <a:ea typeface="Aptos"/>
                          <a:cs typeface="Aptos"/>
                        </a:rPr>
                        <a:t>Yalnız LLM</a:t>
                      </a:r>
                    </a:p>
                  </a:txBody>
                  <a:tcPr marL="91440" marR="91440" marT="45720" marB="45720">
                    <a:solidFill>
                      <a:srgbClr val="162F3A"/>
                    </a:solidFill>
                  </a:tcPr>
                </a:tc>
                <a:tc>
                  <a:txBody>
                    <a:bodyPr wrap="square"/>
                    <a:lstStyle/>
                    <a:p>
                      <a:r>
                        <a:rPr sz="1650" b="1" i="0">
                          <a:solidFill>
                            <a:srgbClr val="FFFFFF"/>
                          </a:solidFill>
                          <a:latin typeface="Aptos"/>
                          <a:ea typeface="Aptos"/>
                          <a:cs typeface="Aptos"/>
                        </a:rPr>
                        <a:t>LLM + doğrulama + önbellek</a:t>
                      </a:r>
                    </a:p>
                  </a:txBody>
                  <a:tcPr marL="91440" marR="91440" marT="45720" marB="45720">
                    <a:solidFill>
                      <a:srgbClr val="162F3A"/>
                    </a:solidFill>
                  </a:tcPr>
                </a:tc>
              </a:tr>
              <a:tr h="521207">
                <a:tc>
                  <a:txBody>
                    <a:bodyPr wrap="square"/>
                    <a:lstStyle/>
                    <a:p>
                      <a:r>
                        <a:rPr sz="1650" b="0" i="0">
                          <a:solidFill>
                            <a:srgbClr val="162F3A"/>
                          </a:solidFill>
                          <a:latin typeface="Aptos"/>
                          <a:ea typeface="Aptos"/>
                          <a:cs typeface="Aptos"/>
                        </a:rPr>
                        <a:t>Yanıt süresi, medyan / p95 (s)</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r>
              <a:tr h="521207">
                <a:tc>
                  <a:txBody>
                    <a:bodyPr wrap="square"/>
                    <a:lstStyle/>
                    <a:p>
                      <a:r>
                        <a:rPr sz="1650" b="0" i="0">
                          <a:solidFill>
                            <a:srgbClr val="162F3A"/>
                          </a:solidFill>
                          <a:latin typeface="Aptos"/>
                          <a:ea typeface="Aptos"/>
                          <a:cs typeface="Aptos"/>
                        </a:rPr>
                        <a:t>Oyuna ulaşan geçersiz eylem oranı</a:t>
                      </a:r>
                    </a:p>
                  </a:txBody>
                  <a:tcPr marL="91440" marR="91440" marT="45720" marB="45720">
                    <a:solidFill>
                      <a:srgbClr val="EAF0ED"/>
                    </a:solidFill>
                  </a:tcPr>
                </a:tc>
                <a:tc>
                  <a:txBody>
                    <a:bodyPr wrap="square"/>
                    <a:lstStyle/>
                    <a:p>
                      <a:r>
                        <a:rPr sz="1650" b="0" i="1">
                          <a:solidFill>
                            <a:srgbClr val="546771"/>
                          </a:solidFill>
                          <a:latin typeface="Aptos"/>
                          <a:ea typeface="Aptos"/>
                          <a:cs typeface="Aptos"/>
                        </a:rPr>
                        <a:t>Uygulanmaz</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a:t>
                      </a:r>
                    </a:p>
                  </a:txBody>
                  <a:tcPr marL="91440" marR="91440" marT="45720" marB="45720">
                    <a:solidFill>
                      <a:srgbClr val="EAF0ED"/>
                    </a:solidFill>
                  </a:tcPr>
                </a:tc>
              </a:tr>
              <a:tr h="521207">
                <a:tc>
                  <a:txBody>
                    <a:bodyPr wrap="square"/>
                    <a:lstStyle/>
                    <a:p>
                      <a:r>
                        <a:rPr sz="1650" b="0" i="0">
                          <a:solidFill>
                            <a:srgbClr val="162F3A"/>
                          </a:solidFill>
                          <a:latin typeface="Aptos"/>
                          <a:ea typeface="Aptos"/>
                          <a:cs typeface="Aptos"/>
                        </a:rPr>
                        <a:t>Yedek yanıta geçiş oranı</a:t>
                      </a:r>
                    </a:p>
                  </a:txBody>
                  <a:tcPr marL="91440" marR="91440" marT="45720" marB="45720">
                    <a:solidFill>
                      <a:srgbClr val="FFFFFF"/>
                    </a:solidFill>
                  </a:tcPr>
                </a:tc>
                <a:tc>
                  <a:txBody>
                    <a:bodyPr wrap="square"/>
                    <a:lstStyle/>
                    <a:p>
                      <a:r>
                        <a:rPr sz="1650" b="0" i="1">
                          <a:solidFill>
                            <a:srgbClr val="546771"/>
                          </a:solidFill>
                          <a:latin typeface="Aptos"/>
                          <a:ea typeface="Aptos"/>
                          <a:cs typeface="Aptos"/>
                        </a:rPr>
                        <a:t>Uygulanmaz</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r>
              <a:tr h="521207">
                <a:tc>
                  <a:txBody>
                    <a:bodyPr wrap="square"/>
                    <a:lstStyle/>
                    <a:p>
                      <a:r>
                        <a:rPr sz="1650" b="0" i="0">
                          <a:solidFill>
                            <a:srgbClr val="162F3A"/>
                          </a:solidFill>
                          <a:latin typeface="Aptos"/>
                          <a:ea typeface="Aptos"/>
                          <a:cs typeface="Aptos"/>
                        </a:rPr>
                        <a:t>Etkileşim başına token / maliyet</a:t>
                      </a:r>
                    </a:p>
                  </a:txBody>
                  <a:tcPr marL="91440" marR="91440" marT="45720" marB="45720">
                    <a:solidFill>
                      <a:srgbClr val="EAF0ED"/>
                    </a:solidFill>
                  </a:tcPr>
                </a:tc>
                <a:tc>
                  <a:txBody>
                    <a:bodyPr wrap="square"/>
                    <a:lstStyle/>
                    <a:p>
                      <a:r>
                        <a:rPr sz="1650" b="0" i="1">
                          <a:solidFill>
                            <a:srgbClr val="546771"/>
                          </a:solidFill>
                          <a:latin typeface="Aptos"/>
                          <a:ea typeface="Aptos"/>
                          <a:cs typeface="Aptos"/>
                        </a:rPr>
                        <a:t>Uygulanmaz</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a:t>
                      </a:r>
                    </a:p>
                  </a:txBody>
                  <a:tcPr marL="91440" marR="91440" marT="45720" marB="45720">
                    <a:solidFill>
                      <a:srgbClr val="EAF0ED"/>
                    </a:solidFill>
                  </a:tcPr>
                </a:tc>
              </a:tr>
              <a:tr h="521207">
                <a:tc>
                  <a:txBody>
                    <a:bodyPr wrap="square"/>
                    <a:lstStyle/>
                    <a:p>
                      <a:r>
                        <a:rPr sz="1650" b="0" i="0">
                          <a:solidFill>
                            <a:srgbClr val="162F3A"/>
                          </a:solidFill>
                          <a:latin typeface="Aptos"/>
                          <a:ea typeface="Aptos"/>
                          <a:cs typeface="Aptos"/>
                        </a:rPr>
                        <a:t>Tutarlılık puanı (1–5)</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c>
                  <a:txBody>
                    <a:bodyPr wrap="square"/>
                    <a:lstStyle/>
                    <a:p>
                      <a:r>
                        <a:rPr sz="1650" b="0" i="0">
                          <a:solidFill>
                            <a:srgbClr val="546771"/>
                          </a:solidFill>
                          <a:latin typeface="Aptos"/>
                          <a:ea typeface="Aptos"/>
                          <a:cs typeface="Aptos"/>
                        </a:rPr>
                        <a:t>—</a:t>
                      </a:r>
                    </a:p>
                  </a:txBody>
                  <a:tcPr marL="91440" marR="91440" marT="45720" marB="45720">
                    <a:solidFill>
                      <a:srgbClr val="FFFFFF"/>
                    </a:solidFill>
                  </a:tcPr>
                </a:tc>
              </a:tr>
              <a:tr h="521207">
                <a:tc>
                  <a:txBody>
                    <a:bodyPr wrap="square"/>
                    <a:lstStyle/>
                    <a:p>
                      <a:r>
                        <a:rPr sz="1650" b="0" i="0">
                          <a:solidFill>
                            <a:srgbClr val="162F3A"/>
                          </a:solidFill>
                          <a:latin typeface="Aptos"/>
                          <a:ea typeface="Aptos"/>
                          <a:cs typeface="Aptos"/>
                        </a:rPr>
                        <a:t>Kare süresi, medyan / p95 (ms)</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a:t>
                      </a:r>
                    </a:p>
                  </a:txBody>
                  <a:tcPr marL="91440" marR="91440" marT="45720" marB="45720">
                    <a:solidFill>
                      <a:srgbClr val="EAF0ED"/>
                    </a:solidFill>
                  </a:tcPr>
                </a:tc>
                <a:tc>
                  <a:txBody>
                    <a:bodyPr wrap="square"/>
                    <a:lstStyle/>
                    <a:p>
                      <a:r>
                        <a:rPr sz="1650" b="0" i="0">
                          <a:solidFill>
                            <a:srgbClr val="546771"/>
                          </a:solidFill>
                          <a:latin typeface="Aptos"/>
                          <a:ea typeface="Aptos"/>
                          <a:cs typeface="Aptos"/>
                        </a:rPr>
                        <a:t>—</a:t>
                      </a:r>
                    </a:p>
                  </a:txBody>
                  <a:tcPr marL="91440" marR="91440" marT="45720" marB="45720">
                    <a:solidFill>
                      <a:srgbClr val="EAF0ED"/>
                    </a:solidFill>
                  </a:tcPr>
                </a:tc>
              </a:tr>
            </a:tbl>
          </a:graphicData>
        </a:graphic>
      </p:graphicFrame>
      <p:sp>
        <p:nvSpPr>
          <p:cNvPr id="6" name="TextBox 5"/>
          <p:cNvSpPr txBox="1"/>
          <p:nvPr/>
        </p:nvSpPr>
        <p:spPr>
          <a:xfrm>
            <a:off x="609630" y="5833872"/>
            <a:ext cx="10241280" cy="457200"/>
          </a:xfrm>
          <a:prstGeom prst="rect">
            <a:avLst/>
          </a:prstGeom>
          <a:noFill/>
        </p:spPr>
        <p:txBody>
          <a:bodyPr wrap="square">
            <a:noAutofit/>
          </a:bodyPr>
          <a:lstStyle/>
          <a:p>
            <a:r>
              <a:rPr sz="1650" b="0" i="0">
                <a:solidFill>
                  <a:srgbClr val="147D7A"/>
                </a:solidFill>
                <a:latin typeface="Aptos"/>
                <a:ea typeface="Aptos"/>
                <a:cs typeface="Aptos"/>
              </a:rPr>
              <a:t>Henüz ölçüm yok. Hücreler prototip deneyleri tamamlandığında doldurulacak.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162F3A"/>
                </a:solidFill>
                <a:latin typeface="Aptos"/>
                <a:ea typeface="Aptos"/>
                <a:cs typeface="Aptos"/>
              </a:rPr>
              <a:t>Sonuç ve sonraki adımlar</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546771"/>
                </a:solidFill>
                <a:latin typeface="Aptos"/>
                <a:ea typeface="Aptos"/>
                <a:cs typeface="Aptos"/>
              </a:rPr>
              <a:t>21</a:t>
            </a:r>
          </a:p>
        </p:txBody>
      </p:sp>
      <p:sp>
        <p:nvSpPr>
          <p:cNvPr id="4" name="TextBox 3"/>
          <p:cNvSpPr txBox="1"/>
          <p:nvPr/>
        </p:nvSpPr>
        <p:spPr>
          <a:xfrm>
            <a:off x="609630" y="1783080"/>
            <a:ext cx="5257800" cy="640080"/>
          </a:xfrm>
          <a:prstGeom prst="rect">
            <a:avLst/>
          </a:prstGeom>
          <a:noFill/>
        </p:spPr>
        <p:txBody>
          <a:bodyPr wrap="square">
            <a:noAutofit/>
          </a:bodyPr>
          <a:lstStyle/>
          <a:p>
            <a:r>
              <a:rPr sz="2325" b="1" i="0">
                <a:solidFill>
                  <a:srgbClr val="147D7A"/>
                </a:solidFill>
                <a:latin typeface="Aptos"/>
                <a:ea typeface="Aptos"/>
                <a:cs typeface="Aptos"/>
              </a:rPr>
              <a:t>Önerilen yaklaşım</a:t>
            </a:r>
          </a:p>
        </p:txBody>
      </p:sp>
      <p:sp>
        <p:nvSpPr>
          <p:cNvPr id="5" name="TextBox 4"/>
          <p:cNvSpPr txBox="1"/>
          <p:nvPr/>
        </p:nvSpPr>
        <p:spPr>
          <a:xfrm>
            <a:off x="609630" y="2560320"/>
            <a:ext cx="5257800" cy="2926080"/>
          </a:xfrm>
          <a:prstGeom prst="rect">
            <a:avLst/>
          </a:prstGeom>
          <a:noFill/>
        </p:spPr>
        <p:txBody>
          <a:bodyPr wrap="square">
            <a:noAutofit/>
          </a:bodyPr>
          <a:lstStyle/>
          <a:p>
            <a:pPr>
              <a:spcAft>
                <a:spcPts val="1400"/>
              </a:spcAft>
            </a:pPr>
            <a:r>
              <a:rPr sz="1900" b="0" i="0">
                <a:solidFill>
                  <a:srgbClr val="162F3A"/>
                </a:solidFill>
                <a:latin typeface="Aptos"/>
                <a:ea typeface="Aptos"/>
                <a:cs typeface="Aptos"/>
              </a:rPr>
              <a:t>LLM çıktısı bir öneridir. Son karar oyun kurallarındadır.</a:t>
            </a:r>
          </a:p>
          <a:p>
            <a:pPr>
              <a:spcAft>
                <a:spcPts val="1400"/>
              </a:spcAft>
            </a:pPr>
            <a:r>
              <a:rPr sz="1900" b="0" i="0">
                <a:solidFill>
                  <a:srgbClr val="162F3A"/>
                </a:solidFill>
                <a:latin typeface="Aptos"/>
                <a:ea typeface="Aptos"/>
                <a:cs typeface="Aptos"/>
              </a:rPr>
              <a:t>Olay, bağlam, JSON, doğrulama ve eylem tek bir zincirde birleşir.</a:t>
            </a:r>
          </a:p>
          <a:p>
            <a:r>
              <a:rPr sz="1900" b="0" i="0">
                <a:solidFill>
                  <a:srgbClr val="162F3A"/>
                </a:solidFill>
                <a:latin typeface="Aptos"/>
                <a:ea typeface="Aptos"/>
                <a:cs typeface="Aptos"/>
              </a:rPr>
              <a:t>Gecikme, güvenilirlik, maliyet ve anlatı aynı deneyde ölçülür.</a:t>
            </a:r>
          </a:p>
        </p:txBody>
      </p:sp>
      <p:sp>
        <p:nvSpPr>
          <p:cNvPr id="6" name="TextBox 5"/>
          <p:cNvSpPr txBox="1"/>
          <p:nvPr/>
        </p:nvSpPr>
        <p:spPr>
          <a:xfrm>
            <a:off x="6324630" y="1783080"/>
            <a:ext cx="5257800" cy="640080"/>
          </a:xfrm>
          <a:prstGeom prst="rect">
            <a:avLst/>
          </a:prstGeom>
          <a:noFill/>
        </p:spPr>
        <p:txBody>
          <a:bodyPr wrap="square">
            <a:noAutofit/>
          </a:bodyPr>
          <a:lstStyle/>
          <a:p>
            <a:r>
              <a:rPr sz="2325" b="1" i="0">
                <a:solidFill>
                  <a:srgbClr val="147D7A"/>
                </a:solidFill>
                <a:latin typeface="Aptos"/>
                <a:ea typeface="Aptos"/>
                <a:cs typeface="Aptos"/>
              </a:rPr>
              <a:t>Sonraki adımlar</a:t>
            </a:r>
          </a:p>
        </p:txBody>
      </p:sp>
      <p:sp>
        <p:nvSpPr>
          <p:cNvPr id="7" name="TextBox 6"/>
          <p:cNvSpPr txBox="1"/>
          <p:nvPr/>
        </p:nvSpPr>
        <p:spPr>
          <a:xfrm>
            <a:off x="6324630" y="2560320"/>
            <a:ext cx="5257800" cy="2926080"/>
          </a:xfrm>
          <a:prstGeom prst="rect">
            <a:avLst/>
          </a:prstGeom>
          <a:noFill/>
        </p:spPr>
        <p:txBody>
          <a:bodyPr wrap="square">
            <a:noAutofit/>
          </a:bodyPr>
          <a:lstStyle/>
          <a:p>
            <a:pPr>
              <a:spcAft>
                <a:spcPts val="1400"/>
              </a:spcAft>
            </a:pPr>
            <a:r>
              <a:rPr sz="1900" b="0" i="0">
                <a:solidFill>
                  <a:srgbClr val="162F3A"/>
                </a:solidFill>
                <a:latin typeface="Aptos"/>
                <a:ea typeface="Aptos"/>
                <a:cs typeface="Aptos"/>
              </a:rPr>
              <a:t>Dikey dilimi tamamlamak ve S1–S5 senaryolarını geçirmek.</a:t>
            </a:r>
          </a:p>
          <a:p>
            <a:pPr>
              <a:spcAft>
                <a:spcPts val="1400"/>
              </a:spcAft>
            </a:pPr>
            <a:r>
              <a:rPr sz="1900" b="0" i="0">
                <a:solidFill>
                  <a:srgbClr val="162F3A"/>
                </a:solidFill>
                <a:latin typeface="Aptos"/>
                <a:ea typeface="Aptos"/>
                <a:cs typeface="Aptos"/>
              </a:rPr>
              <a:t>Pilot ölçümle hedef eşikleri netleştirmek.</a:t>
            </a:r>
          </a:p>
          <a:p>
            <a:r>
              <a:rPr sz="1900" b="0" i="0">
                <a:solidFill>
                  <a:srgbClr val="162F3A"/>
                </a:solidFill>
                <a:latin typeface="Aptos"/>
                <a:ea typeface="Aptos"/>
                <a:cs typeface="Aptos"/>
              </a:rPr>
              <a:t>Üç koşullu deneyi koşturup bulgu tablosunu doldurmak.</a:t>
            </a:r>
          </a:p>
        </p:txBody>
      </p:sp>
      <p:sp>
        <p:nvSpPr>
          <p:cNvPr id="8" name="TextBox 7"/>
          <p:cNvSpPr txBox="1"/>
          <p:nvPr/>
        </p:nvSpPr>
        <p:spPr>
          <a:xfrm>
            <a:off x="609630" y="5760720"/>
            <a:ext cx="10607040" cy="548640"/>
          </a:xfrm>
          <a:prstGeom prst="rect">
            <a:avLst/>
          </a:prstGeom>
          <a:noFill/>
        </p:spPr>
        <p:txBody>
          <a:bodyPr wrap="square">
            <a:noAutofit/>
          </a:bodyPr>
          <a:lstStyle/>
          <a:p>
            <a:r>
              <a:rPr sz="2025" b="1" i="0">
                <a:solidFill>
                  <a:srgbClr val="147D7A"/>
                </a:solidFill>
                <a:latin typeface="Aptos"/>
                <a:ea typeface="Aptos"/>
                <a:cs typeface="Aptos"/>
              </a:rPr>
              <a:t>Hedef: ölçülebilir ve tekrarlanabilir bir doğrulama katmanı.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162F3A"/>
                </a:solidFill>
                <a:latin typeface="Aptos"/>
                <a:ea typeface="Aptos"/>
                <a:cs typeface="Aptos"/>
              </a:rPr>
              <a:t>Kaynakça (1/2)</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546771"/>
                </a:solidFill>
                <a:latin typeface="Aptos"/>
                <a:ea typeface="Aptos"/>
                <a:cs typeface="Aptos"/>
              </a:rPr>
              <a:t>22</a:t>
            </a:r>
          </a:p>
        </p:txBody>
      </p:sp>
      <p:sp>
        <p:nvSpPr>
          <p:cNvPr id="4" name="TextBox 3"/>
          <p:cNvSpPr txBox="1"/>
          <p:nvPr/>
        </p:nvSpPr>
        <p:spPr>
          <a:xfrm>
            <a:off x="609630" y="1371600"/>
            <a:ext cx="10972800" cy="4846320"/>
          </a:xfrm>
          <a:prstGeom prst="rect">
            <a:avLst/>
          </a:prstGeom>
          <a:noFill/>
        </p:spPr>
        <p:txBody>
          <a:bodyPr wrap="square">
            <a:noAutofit/>
          </a:bodyPr>
          <a:lstStyle/>
          <a:p>
            <a:pPr marL="320040" indent="-320040">
              <a:spcAft>
                <a:spcPts val="800"/>
              </a:spcAft>
            </a:pPr>
            <a:r>
              <a:rPr sz="1350" b="0" i="0">
                <a:solidFill>
                  <a:srgbClr val="162F3A"/>
                </a:solidFill>
                <a:latin typeface="Aptos"/>
                <a:ea typeface="Aptos"/>
                <a:cs typeface="Aptos"/>
              </a:rPr>
              <a:t>Ashby, T., Webb, B. K., Knapp, G., Searle, J. ve Fulda, N. (2023). Personalized quest and dialogue generation in role-playing games: A knowledge graph- and language model-based approach. </a:t>
            </a:r>
            <a:r>
              <a:rPr sz="1350" b="0" i="1">
                <a:solidFill>
                  <a:srgbClr val="162F3A"/>
                </a:solidFill>
                <a:latin typeface="Aptos"/>
                <a:ea typeface="Aptos"/>
                <a:cs typeface="Aptos"/>
              </a:rPr>
              <a:t>Proceedings of the 2023 CHI Conference on Human Factors in Computing Systems</a:t>
            </a:r>
            <a:r>
              <a:rPr sz="1350" b="0" i="0">
                <a:solidFill>
                  <a:srgbClr val="162F3A"/>
                </a:solidFill>
                <a:latin typeface="Aptos"/>
                <a:ea typeface="Aptos"/>
                <a:cs typeface="Aptos"/>
              </a:rPr>
              <a:t> (ss. 1–20). ACM. https://doi.org/10.1145/3544548.3581441</a:t>
            </a:r>
          </a:p>
          <a:p>
            <a:pPr marL="320040" indent="-320040">
              <a:spcAft>
                <a:spcPts val="800"/>
              </a:spcAft>
            </a:pPr>
            <a:r>
              <a:rPr sz="1350" b="0" i="0">
                <a:solidFill>
                  <a:srgbClr val="162F3A"/>
                </a:solidFill>
                <a:latin typeface="Aptos"/>
                <a:ea typeface="Aptos"/>
                <a:cs typeface="Aptos"/>
              </a:rPr>
              <a:t>Chen, L., Zaharia, M. ve Zou, J. (2024). FrugalGPT: How to use large language models while reducing cost and improving performance. </a:t>
            </a:r>
            <a:r>
              <a:rPr sz="1350" b="0" i="1">
                <a:solidFill>
                  <a:srgbClr val="162F3A"/>
                </a:solidFill>
                <a:latin typeface="Aptos"/>
                <a:ea typeface="Aptos"/>
                <a:cs typeface="Aptos"/>
              </a:rPr>
              <a:t>Transactions on Machine Learning Research</a:t>
            </a:r>
            <a:r>
              <a:rPr sz="1350" b="0" i="0">
                <a:solidFill>
                  <a:srgbClr val="162F3A"/>
                </a:solidFill>
                <a:latin typeface="Aptos"/>
                <a:ea typeface="Aptos"/>
                <a:cs typeface="Aptos"/>
              </a:rPr>
              <a:t>. https://openreview.net/forum?id=cSimKw5p6R</a:t>
            </a:r>
          </a:p>
          <a:p>
            <a:pPr marL="320040" indent="-320040">
              <a:spcAft>
                <a:spcPts val="800"/>
              </a:spcAft>
            </a:pPr>
            <a:r>
              <a:rPr sz="1350" b="0" i="0">
                <a:solidFill>
                  <a:srgbClr val="162F3A"/>
                </a:solidFill>
                <a:latin typeface="Aptos"/>
                <a:ea typeface="Aptos"/>
                <a:cs typeface="Aptos"/>
              </a:rPr>
              <a:t>Doran, J. ve Parberry, I. (2011). A prototype quest generator based on a structural analysis of quests from four MMORPGs. </a:t>
            </a:r>
            <a:r>
              <a:rPr sz="1350" b="0" i="1">
                <a:solidFill>
                  <a:srgbClr val="162F3A"/>
                </a:solidFill>
                <a:latin typeface="Aptos"/>
                <a:ea typeface="Aptos"/>
                <a:cs typeface="Aptos"/>
              </a:rPr>
              <a:t>Proceedings of the 2nd International Workshop on Procedural Content Generation in Games</a:t>
            </a:r>
            <a:r>
              <a:rPr sz="1350" b="0" i="0">
                <a:solidFill>
                  <a:srgbClr val="162F3A"/>
                </a:solidFill>
                <a:latin typeface="Aptos"/>
                <a:ea typeface="Aptos"/>
                <a:cs typeface="Aptos"/>
              </a:rPr>
              <a:t> (ss. 1–8). ACM. https://doi.org/10.1145/2000919.2000920</a:t>
            </a:r>
          </a:p>
          <a:p>
            <a:pPr marL="320040" indent="-320040">
              <a:spcAft>
                <a:spcPts val="800"/>
              </a:spcAft>
            </a:pPr>
            <a:r>
              <a:rPr sz="1350" b="0" i="0">
                <a:solidFill>
                  <a:srgbClr val="162F3A"/>
                </a:solidFill>
                <a:latin typeface="Aptos"/>
                <a:ea typeface="Aptos"/>
                <a:cs typeface="Aptos"/>
              </a:rPr>
              <a:t>Gallotta, R., Todd, G., Zammit, M., Earle, S., Liapis, A., Togelius, J. ve Yannakakis, G. N. (2024). Large language models and games: A survey and roadmap. </a:t>
            </a:r>
            <a:r>
              <a:rPr sz="1350" b="0" i="1">
                <a:solidFill>
                  <a:srgbClr val="162F3A"/>
                </a:solidFill>
                <a:latin typeface="Aptos"/>
                <a:ea typeface="Aptos"/>
                <a:cs typeface="Aptos"/>
              </a:rPr>
              <a:t>IEEE Transactions on Games</a:t>
            </a:r>
            <a:r>
              <a:rPr sz="1350" b="0" i="0">
                <a:solidFill>
                  <a:srgbClr val="162F3A"/>
                </a:solidFill>
                <a:latin typeface="Aptos"/>
                <a:ea typeface="Aptos"/>
                <a:cs typeface="Aptos"/>
              </a:rPr>
              <a:t>. Erken görünüm. https://doi.org/10.1109/TG.2024.3461510</a:t>
            </a:r>
          </a:p>
          <a:p>
            <a:pPr marL="320040" indent="-320040">
              <a:spcAft>
                <a:spcPts val="800"/>
              </a:spcAft>
            </a:pPr>
            <a:r>
              <a:rPr sz="1350" b="0" i="0">
                <a:solidFill>
                  <a:srgbClr val="162F3A"/>
                </a:solidFill>
                <a:latin typeface="Aptos"/>
                <a:ea typeface="Aptos"/>
                <a:cs typeface="Aptos"/>
              </a:rPr>
              <a:t>Ji, Z., Lee, N., Frieske, R., Yu, T., Su, D., Xu, Y., Ishii, E., Bang, Y. J., Madotto, A. ve Fung, P. (2023). Survey of hallucination in natural language generation. </a:t>
            </a:r>
            <a:r>
              <a:rPr sz="1350" b="0" i="1">
                <a:solidFill>
                  <a:srgbClr val="162F3A"/>
                </a:solidFill>
                <a:latin typeface="Aptos"/>
                <a:ea typeface="Aptos"/>
                <a:cs typeface="Aptos"/>
              </a:rPr>
              <a:t>ACM Computing Surveys, 55</a:t>
            </a:r>
            <a:r>
              <a:rPr sz="1350" b="0" i="0">
                <a:solidFill>
                  <a:srgbClr val="162F3A"/>
                </a:solidFill>
                <a:latin typeface="Aptos"/>
                <a:ea typeface="Aptos"/>
                <a:cs typeface="Aptos"/>
              </a:rPr>
              <a:t>(12), Makale 248. https://doi.org/10.1145/3571730</a:t>
            </a:r>
          </a:p>
          <a:p>
            <a:pPr marL="320040" indent="-320040">
              <a:spcAft>
                <a:spcPts val="800"/>
              </a:spcAft>
            </a:pPr>
            <a:r>
              <a:rPr sz="1350" b="0" i="0">
                <a:solidFill>
                  <a:srgbClr val="162F3A"/>
                </a:solidFill>
                <a:latin typeface="Aptos"/>
                <a:ea typeface="Aptos"/>
                <a:cs typeface="Aptos"/>
              </a:rPr>
              <a:t>Kumaran, V., Rowe, J., Mott, B. ve Lester, J. (2023). SceneCraft: Automating interactive narrative scene generation in digital games with large language models. </a:t>
            </a:r>
            <a:r>
              <a:rPr sz="1350" b="0" i="1">
                <a:solidFill>
                  <a:srgbClr val="162F3A"/>
                </a:solidFill>
                <a:latin typeface="Aptos"/>
                <a:ea typeface="Aptos"/>
                <a:cs typeface="Aptos"/>
              </a:rPr>
              <a:t>Proceedings of the AAAI Conference on Artificial Intelligence and Interactive Digital Entertainment, 19</a:t>
            </a:r>
            <a:r>
              <a:rPr sz="1350" b="0" i="0">
                <a:solidFill>
                  <a:srgbClr val="162F3A"/>
                </a:solidFill>
                <a:latin typeface="Aptos"/>
                <a:ea typeface="Aptos"/>
                <a:cs typeface="Aptos"/>
              </a:rPr>
              <a:t>(1), 86–96. https://doi.org/10.1609/aiide.v19i1.27504</a:t>
            </a:r>
          </a:p>
          <a:p>
            <a:pPr marL="320040" indent="-320040">
              <a:spcAft>
                <a:spcPts val="800"/>
              </a:spcAft>
            </a:pPr>
            <a:r>
              <a:rPr sz="1350" b="0" i="0">
                <a:solidFill>
                  <a:srgbClr val="162F3A"/>
                </a:solidFill>
                <a:latin typeface="Aptos"/>
                <a:ea typeface="Aptos"/>
                <a:cs typeface="Aptos"/>
              </a:rPr>
              <a:t>Maslych, M., Katebi, M., Lee, C., Hmaiti, Y., Ghasemaghaei, A., Pumarada, C., Palmer, J., Segarra Martinez, E., Emporio, M., Snipes, W., McMahan, R. P. ve LaViola, J. J., Jr. (2025). Mitigating response delays in free-form conversations with LLM-powered intelligent virtual agents. </a:t>
            </a:r>
            <a:r>
              <a:rPr sz="1350" b="0" i="1">
                <a:solidFill>
                  <a:srgbClr val="162F3A"/>
                </a:solidFill>
                <a:latin typeface="Aptos"/>
                <a:ea typeface="Aptos"/>
                <a:cs typeface="Aptos"/>
              </a:rPr>
              <a:t>Proceedings of the 7th ACM Conference on Conversational User Interfaces</a:t>
            </a:r>
            <a:r>
              <a:rPr sz="1350" b="0" i="0">
                <a:solidFill>
                  <a:srgbClr val="162F3A"/>
                </a:solidFill>
                <a:latin typeface="Aptos"/>
                <a:ea typeface="Aptos"/>
                <a:cs typeface="Aptos"/>
              </a:rPr>
              <a:t> (ss. 1–15). ACM. https://doi.org/10.1145/3719160.3736636</a:t>
            </a:r>
          </a:p>
          <a:p>
            <a:pPr marL="320040" indent="-320040"/>
            <a:r>
              <a:rPr sz="1350" b="0" i="0">
                <a:solidFill>
                  <a:srgbClr val="162F3A"/>
                </a:solidFill>
                <a:latin typeface="Aptos"/>
                <a:ea typeface="Aptos"/>
                <a:cs typeface="Aptos"/>
              </a:rPr>
              <a:t>Mateas, M. ve Stern, A. (2005). Structuring content in the Façade interactive drama architecture. </a:t>
            </a:r>
            <a:r>
              <a:rPr sz="1350" b="0" i="1">
                <a:solidFill>
                  <a:srgbClr val="162F3A"/>
                </a:solidFill>
                <a:latin typeface="Aptos"/>
                <a:ea typeface="Aptos"/>
                <a:cs typeface="Aptos"/>
              </a:rPr>
              <a:t>Proceedings of the AAAI Conference on Artificial Intelligence and Interactive Digital Entertainment, 1</a:t>
            </a:r>
            <a:r>
              <a:rPr sz="1350" b="0" i="0">
                <a:solidFill>
                  <a:srgbClr val="162F3A"/>
                </a:solidFill>
                <a:latin typeface="Aptos"/>
                <a:ea typeface="Aptos"/>
                <a:cs typeface="Aptos"/>
              </a:rPr>
              <a:t>(1), 93–98. https://doi.org/10.1609/aiide.v1i1.18722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itle"/>
          <p:cNvSpPr txBox="1"/>
          <p:nvPr/>
        </p:nvSpPr>
        <p:spPr>
          <a:xfrm>
            <a:off x="609630" y="514350"/>
            <a:ext cx="10972800" cy="1047719"/>
          </a:xfrm>
          <a:prstGeom prst="rect">
            <a:avLst/>
          </a:prstGeom>
          <a:noFill/>
        </p:spPr>
        <p:txBody>
          <a:bodyPr wrap="square">
            <a:noAutofit/>
          </a:bodyPr>
          <a:lstStyle/>
          <a:p>
            <a:r>
              <a:rPr sz="3300" b="1" i="0">
                <a:solidFill>
                  <a:srgbClr val="162F3A"/>
                </a:solidFill>
                <a:latin typeface="Aptos"/>
                <a:ea typeface="Aptos"/>
                <a:cs typeface="Aptos"/>
              </a:rPr>
              <a:t>Kaynakça (2/2)</a:t>
            </a:r>
          </a:p>
        </p:txBody>
      </p:sp>
      <p:sp>
        <p:nvSpPr>
          <p:cNvPr id="3" name="PageNum"/>
          <p:cNvSpPr txBox="1"/>
          <p:nvPr/>
        </p:nvSpPr>
        <p:spPr>
          <a:xfrm>
            <a:off x="10953780" y="6286500"/>
            <a:ext cx="666780" cy="266730"/>
          </a:xfrm>
          <a:prstGeom prst="rect">
            <a:avLst/>
          </a:prstGeom>
          <a:noFill/>
        </p:spPr>
        <p:txBody>
          <a:bodyPr wrap="square">
            <a:noAutofit/>
          </a:bodyPr>
          <a:lstStyle/>
          <a:p>
            <a:r>
              <a:rPr sz="1350" b="0" i="0">
                <a:solidFill>
                  <a:srgbClr val="546771"/>
                </a:solidFill>
                <a:latin typeface="Aptos"/>
                <a:ea typeface="Aptos"/>
                <a:cs typeface="Aptos"/>
              </a:rPr>
              <a:t>23</a:t>
            </a:r>
          </a:p>
        </p:txBody>
      </p:sp>
      <p:sp>
        <p:nvSpPr>
          <p:cNvPr id="4" name="TextBox 3"/>
          <p:cNvSpPr txBox="1"/>
          <p:nvPr/>
        </p:nvSpPr>
        <p:spPr>
          <a:xfrm>
            <a:off x="609630" y="1371600"/>
            <a:ext cx="10972800" cy="4846320"/>
          </a:xfrm>
          <a:prstGeom prst="rect">
            <a:avLst/>
          </a:prstGeom>
          <a:noFill/>
        </p:spPr>
        <p:txBody>
          <a:bodyPr wrap="square">
            <a:noAutofit/>
          </a:bodyPr>
          <a:lstStyle/>
          <a:p>
            <a:pPr marL="320040" indent="-320040">
              <a:spcAft>
                <a:spcPts val="800"/>
              </a:spcAft>
            </a:pPr>
            <a:r>
              <a:rPr sz="1350" b="0" i="0">
                <a:solidFill>
                  <a:srgbClr val="162F3A"/>
                </a:solidFill>
                <a:latin typeface="Aptos"/>
                <a:ea typeface="Aptos"/>
                <a:cs typeface="Aptos"/>
              </a:rPr>
              <a:t>McGrath, J., Lorandi, M. ve Belz, A. (2025). Echoes of Others: Real-time LLM dialogue generation for immersive NPC interaction. </a:t>
            </a:r>
            <a:r>
              <a:rPr sz="1350" b="0" i="1">
                <a:solidFill>
                  <a:srgbClr val="162F3A"/>
                </a:solidFill>
                <a:latin typeface="Aptos"/>
                <a:ea typeface="Aptos"/>
                <a:cs typeface="Aptos"/>
              </a:rPr>
              <a:t>Proceedings of the 18th International Natural Language Generation Conference: System Demonstrations</a:t>
            </a:r>
            <a:r>
              <a:rPr sz="1350" b="0" i="0">
                <a:solidFill>
                  <a:srgbClr val="162F3A"/>
                </a:solidFill>
                <a:latin typeface="Aptos"/>
                <a:ea typeface="Aptos"/>
                <a:cs typeface="Aptos"/>
              </a:rPr>
              <a:t> (ss. 1–2). Association for Computational Linguistics. https://aclanthology.org/2025.inlg-demos.1/</a:t>
            </a:r>
          </a:p>
          <a:p>
            <a:pPr marL="320040" indent="-320040">
              <a:spcAft>
                <a:spcPts val="800"/>
              </a:spcAft>
            </a:pPr>
            <a:r>
              <a:rPr sz="1350" b="0" i="0">
                <a:solidFill>
                  <a:srgbClr val="162F3A"/>
                </a:solidFill>
                <a:latin typeface="Aptos"/>
                <a:ea typeface="Aptos"/>
                <a:cs typeface="Aptos"/>
              </a:rPr>
              <a:t>Packer, C., Wooders, S., Lin, K., Fang, V., Patil, S. G., Stoica, I. ve Gonzalez, J. E. (2023). </a:t>
            </a:r>
            <a:r>
              <a:rPr sz="1350" b="0" i="1">
                <a:solidFill>
                  <a:srgbClr val="162F3A"/>
                </a:solidFill>
                <a:latin typeface="Aptos"/>
                <a:ea typeface="Aptos"/>
                <a:cs typeface="Aptos"/>
              </a:rPr>
              <a:t>MemGPT: Towards LLMs as operating systems</a:t>
            </a:r>
            <a:r>
              <a:rPr sz="1350" b="0" i="0">
                <a:solidFill>
                  <a:srgbClr val="162F3A"/>
                </a:solidFill>
                <a:latin typeface="Aptos"/>
                <a:ea typeface="Aptos"/>
                <a:cs typeface="Aptos"/>
              </a:rPr>
              <a:t> (arXiv:2310.08560). arXiv. https://doi.org/10.48550/arXiv.2310.08560</a:t>
            </a:r>
          </a:p>
          <a:p>
            <a:pPr marL="320040" indent="-320040">
              <a:spcAft>
                <a:spcPts val="800"/>
              </a:spcAft>
            </a:pPr>
            <a:r>
              <a:rPr sz="1350" b="0" i="0">
                <a:solidFill>
                  <a:srgbClr val="162F3A"/>
                </a:solidFill>
                <a:latin typeface="Aptos"/>
                <a:ea typeface="Aptos"/>
                <a:cs typeface="Aptos"/>
              </a:rPr>
              <a:t>Park, J. S., O’Brien, J. C., Cai, C. J., Morris, M. R., Liang, P. ve Bernstein, M. S. (2023). Generative agents: Interactive simulacra of human behavior. </a:t>
            </a:r>
            <a:r>
              <a:rPr sz="1350" b="0" i="1">
                <a:solidFill>
                  <a:srgbClr val="162F3A"/>
                </a:solidFill>
                <a:latin typeface="Aptos"/>
                <a:ea typeface="Aptos"/>
                <a:cs typeface="Aptos"/>
              </a:rPr>
              <a:t>Proceedings of the 36th Annual ACM Symposium on User Interface Software and Technology</a:t>
            </a:r>
            <a:r>
              <a:rPr sz="1350" b="0" i="0">
                <a:solidFill>
                  <a:srgbClr val="162F3A"/>
                </a:solidFill>
                <a:latin typeface="Aptos"/>
                <a:ea typeface="Aptos"/>
                <a:cs typeface="Aptos"/>
              </a:rPr>
              <a:t> (ss. 1–22). ACM. https://doi.org/10.1145/3586183.3606763</a:t>
            </a:r>
          </a:p>
          <a:p>
            <a:pPr marL="320040" indent="-320040">
              <a:spcAft>
                <a:spcPts val="800"/>
              </a:spcAft>
            </a:pPr>
            <a:r>
              <a:rPr sz="1350" b="0" i="0">
                <a:solidFill>
                  <a:srgbClr val="162F3A"/>
                </a:solidFill>
                <a:latin typeface="Aptos"/>
                <a:ea typeface="Aptos"/>
                <a:cs typeface="Aptos"/>
              </a:rPr>
              <a:t>Riedl, M. O. ve Bulitko, V. (2013). Interactive narrative: An intelligent systems approach. </a:t>
            </a:r>
            <a:r>
              <a:rPr sz="1350" b="0" i="1">
                <a:solidFill>
                  <a:srgbClr val="162F3A"/>
                </a:solidFill>
                <a:latin typeface="Aptos"/>
                <a:ea typeface="Aptos"/>
                <a:cs typeface="Aptos"/>
              </a:rPr>
              <a:t>AI Magazine, 34</a:t>
            </a:r>
            <a:r>
              <a:rPr sz="1350" b="0" i="0">
                <a:solidFill>
                  <a:srgbClr val="162F3A"/>
                </a:solidFill>
                <a:latin typeface="Aptos"/>
                <a:ea typeface="Aptos"/>
                <a:cs typeface="Aptos"/>
              </a:rPr>
              <a:t>(1), 67–77. https://doi.org/10.1609/aimag.v34i1.2449</a:t>
            </a:r>
          </a:p>
          <a:p>
            <a:pPr marL="320040" indent="-320040">
              <a:spcAft>
                <a:spcPts val="800"/>
              </a:spcAft>
            </a:pPr>
            <a:r>
              <a:rPr sz="1350" b="0" i="0">
                <a:solidFill>
                  <a:srgbClr val="162F3A"/>
                </a:solidFill>
                <a:latin typeface="Aptos"/>
                <a:ea typeface="Aptos"/>
                <a:cs typeface="Aptos"/>
              </a:rPr>
              <a:t>Värtinen, S., Hämäläinen, P. ve Guckelsberger, C. (2024). Generating role-playing game quests with GPT language models. </a:t>
            </a:r>
            <a:r>
              <a:rPr sz="1350" b="0" i="1">
                <a:solidFill>
                  <a:srgbClr val="162F3A"/>
                </a:solidFill>
                <a:latin typeface="Aptos"/>
                <a:ea typeface="Aptos"/>
                <a:cs typeface="Aptos"/>
              </a:rPr>
              <a:t>IEEE Transactions on Games, 16</a:t>
            </a:r>
            <a:r>
              <a:rPr sz="1350" b="0" i="0">
                <a:solidFill>
                  <a:srgbClr val="162F3A"/>
                </a:solidFill>
                <a:latin typeface="Aptos"/>
                <a:ea typeface="Aptos"/>
                <a:cs typeface="Aptos"/>
              </a:rPr>
              <a:t>(1), 127–139. https://doi.org/10.1109/TG.2022.3228480</a:t>
            </a:r>
          </a:p>
          <a:p>
            <a:pPr marL="320040" indent="-320040">
              <a:spcAft>
                <a:spcPts val="800"/>
              </a:spcAft>
            </a:pPr>
            <a:r>
              <a:rPr sz="1350" b="0" i="0">
                <a:solidFill>
                  <a:srgbClr val="162F3A"/>
                </a:solidFill>
                <a:latin typeface="Aptos"/>
                <a:ea typeface="Aptos"/>
                <a:cs typeface="Aptos"/>
              </a:rPr>
              <a:t>Wang, G., Xie, Y., Jiang, Y., Mandlekar, A., Xiao, C., Zhu, Y., Fan, L. ve Anandkumar, A. (2024). Voyager: An open-ended embodied agent with large language models. </a:t>
            </a:r>
            <a:r>
              <a:rPr sz="1350" b="0" i="1">
                <a:solidFill>
                  <a:srgbClr val="162F3A"/>
                </a:solidFill>
                <a:latin typeface="Aptos"/>
                <a:ea typeface="Aptos"/>
                <a:cs typeface="Aptos"/>
              </a:rPr>
              <a:t>Transactions on Machine Learning Research</a:t>
            </a:r>
            <a:r>
              <a:rPr sz="1350" b="0" i="0">
                <a:solidFill>
                  <a:srgbClr val="162F3A"/>
                </a:solidFill>
                <a:latin typeface="Aptos"/>
                <a:ea typeface="Aptos"/>
                <a:cs typeface="Aptos"/>
              </a:rPr>
              <a:t>. https://openreview.net/forum?id=nfx5IutEed</a:t>
            </a:r>
          </a:p>
          <a:p>
            <a:pPr marL="320040" indent="-320040">
              <a:spcAft>
                <a:spcPts val="800"/>
              </a:spcAft>
            </a:pPr>
            <a:r>
              <a:rPr sz="1350" b="0" i="0">
                <a:solidFill>
                  <a:srgbClr val="162F3A"/>
                </a:solidFill>
                <a:latin typeface="Aptos"/>
                <a:ea typeface="Aptos"/>
                <a:cs typeface="Aptos"/>
              </a:rPr>
              <a:t>Willard, B. T. ve Louf, R. (2023). </a:t>
            </a:r>
            <a:r>
              <a:rPr sz="1350" b="0" i="1">
                <a:solidFill>
                  <a:srgbClr val="162F3A"/>
                </a:solidFill>
                <a:latin typeface="Aptos"/>
                <a:ea typeface="Aptos"/>
                <a:cs typeface="Aptos"/>
              </a:rPr>
              <a:t>Efficient guided generation for large language models</a:t>
            </a:r>
            <a:r>
              <a:rPr sz="1350" b="0" i="0">
                <a:solidFill>
                  <a:srgbClr val="162F3A"/>
                </a:solidFill>
                <a:latin typeface="Aptos"/>
                <a:ea typeface="Aptos"/>
                <a:cs typeface="Aptos"/>
              </a:rPr>
              <a:t> (arXiv:2307.09702). arXiv. https://doi.org/10.48550/arXiv.2307.09702</a:t>
            </a:r>
          </a:p>
          <a:p>
            <a:pPr marL="320040" indent="-320040"/>
            <a:r>
              <a:rPr sz="1200" b="0" i="0">
                <a:solidFill>
                  <a:srgbClr val="546771"/>
                </a:solidFill>
                <a:latin typeface="Aptos"/>
                <a:ea typeface="Aptos"/>
                <a:cs typeface="Aptos"/>
              </a:rPr>
              <a:t>Ürün sayfaları (erişim: 2 Ekim 2026): Convai, https://convai.com · Inworld AI, https://inworld.ai · LLM for Unity, https://github.com/undreamai/LLMUnity · NVIDIA ACE, https://developer.nvidia.com/ace</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2026-09-26T12:14:00.9240000Z</dcterms:created>
  <dcterms:modified xsi:type="dcterms:W3CDTF">2026-09-26T12:14:00.9240000Z</dcterms:modified>
</coreProperties>
</file>